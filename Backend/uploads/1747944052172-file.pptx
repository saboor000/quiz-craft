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57"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82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C3FE231-8E6F-4A63-95E5-0ABBAC36FC5F}"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3161817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3FE231-8E6F-4A63-95E5-0ABBAC36FC5F}"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297773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C3FE231-8E6F-4A63-95E5-0ABBAC36FC5F}"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162736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3FE231-8E6F-4A63-95E5-0ABBAC36FC5F}"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1158540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3FE231-8E6F-4A63-95E5-0ABBAC36FC5F}" type="datetimeFigureOut">
              <a:rPr lang="en-US" smtClean="0"/>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1882265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C3FE231-8E6F-4A63-95E5-0ABBAC36FC5F}" type="datetimeFigureOut">
              <a:rPr lang="en-US" smtClean="0"/>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165953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3FE231-8E6F-4A63-95E5-0ABBAC36FC5F}" type="datetimeFigureOut">
              <a:rPr lang="en-US" smtClean="0"/>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3799379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3FE231-8E6F-4A63-95E5-0ABBAC36FC5F}"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2691942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3FE231-8E6F-4A63-95E5-0ABBAC36FC5F}"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490074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3FE231-8E6F-4A63-95E5-0ABBAC36FC5F}"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1004909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3FE231-8E6F-4A63-95E5-0ABBAC36FC5F}"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7C64C6-C9AE-4227-A6E3-5D0D6F820F14}" type="slidenum">
              <a:rPr lang="en-US" smtClean="0"/>
              <a:t>‹#›</a:t>
            </a:fld>
            <a:endParaRPr lang="en-US"/>
          </a:p>
        </p:txBody>
      </p:sp>
    </p:spTree>
    <p:extLst>
      <p:ext uri="{BB962C8B-B14F-4D97-AF65-F5344CB8AC3E}">
        <p14:creationId xmlns:p14="http://schemas.microsoft.com/office/powerpoint/2010/main" val="766177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3FE231-8E6F-4A63-95E5-0ABBAC36FC5F}" type="datetimeFigureOut">
              <a:rPr lang="en-US" smtClean="0"/>
              <a:t>4/14/2025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7C64C6-C9AE-4227-A6E3-5D0D6F820F14}" type="slidenum">
              <a:rPr lang="en-US" smtClean="0"/>
              <a:t>‹#›</a:t>
            </a:fld>
            <a:endParaRPr lang="en-US"/>
          </a:p>
        </p:txBody>
      </p:sp>
    </p:spTree>
    <p:extLst>
      <p:ext uri="{BB962C8B-B14F-4D97-AF65-F5344CB8AC3E}">
        <p14:creationId xmlns:p14="http://schemas.microsoft.com/office/powerpoint/2010/main" val="2381644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856364"/>
          </a:xfrm>
        </p:spPr>
        <p:txBody>
          <a:bodyPr/>
          <a:lstStyle/>
          <a:p>
            <a:r>
              <a:rPr lang="en-US" dirty="0"/>
              <a:t>Enterprise System</a:t>
            </a:r>
          </a:p>
        </p:txBody>
      </p:sp>
      <p:sp>
        <p:nvSpPr>
          <p:cNvPr id="3" name="Subtitle 2"/>
          <p:cNvSpPr>
            <a:spLocks noGrp="1"/>
          </p:cNvSpPr>
          <p:nvPr>
            <p:ph type="subTitle" idx="1"/>
          </p:nvPr>
        </p:nvSpPr>
        <p:spPr/>
        <p:txBody>
          <a:bodyPr/>
          <a:lstStyle/>
          <a:p>
            <a:r>
              <a:rPr lang="en-US" dirty="0"/>
              <a:t>Course Instructor: Ms. </a:t>
            </a:r>
            <a:r>
              <a:rPr lang="en-US" dirty="0" err="1"/>
              <a:t>Ameena</a:t>
            </a:r>
            <a:r>
              <a:rPr lang="en-US" dirty="0"/>
              <a:t> Saeed</a:t>
            </a:r>
          </a:p>
          <a:p>
            <a:endParaRPr lang="en-US" dirty="0"/>
          </a:p>
          <a:p>
            <a:r>
              <a:rPr lang="en-US" dirty="0"/>
              <a:t>Lecture: Introduction to Enterprise Systems</a:t>
            </a:r>
          </a:p>
          <a:p>
            <a:endParaRPr lang="en-US" dirty="0"/>
          </a:p>
        </p:txBody>
      </p:sp>
    </p:spTree>
    <p:extLst>
      <p:ext uri="{BB962C8B-B14F-4D97-AF65-F5344CB8AC3E}">
        <p14:creationId xmlns:p14="http://schemas.microsoft.com/office/powerpoint/2010/main" val="1203417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80"/>
            <a:ext cx="10515600" cy="826366"/>
          </a:xfrm>
        </p:spPr>
        <p:txBody>
          <a:bodyPr/>
          <a:lstStyle/>
          <a:p>
            <a:r>
              <a:rPr lang="en-US" b="1" dirty="0"/>
              <a:t>ERP Planning</a:t>
            </a:r>
            <a:endParaRPr lang="en-US" dirty="0"/>
          </a:p>
        </p:txBody>
      </p:sp>
      <p:sp>
        <p:nvSpPr>
          <p:cNvPr id="3" name="Content Placeholder 2"/>
          <p:cNvSpPr>
            <a:spLocks noGrp="1"/>
          </p:cNvSpPr>
          <p:nvPr>
            <p:ph idx="1"/>
          </p:nvPr>
        </p:nvSpPr>
        <p:spPr>
          <a:xfrm>
            <a:off x="838200" y="1274618"/>
            <a:ext cx="10515600" cy="5140037"/>
          </a:xfrm>
        </p:spPr>
        <p:txBody>
          <a:bodyPr>
            <a:normAutofit lnSpcReduction="10000"/>
          </a:bodyPr>
          <a:lstStyle/>
          <a:p>
            <a:pPr marL="0" indent="0">
              <a:buNone/>
            </a:pPr>
            <a:r>
              <a:rPr lang="en-US" dirty="0"/>
              <a:t>ERP planning is a </a:t>
            </a:r>
            <a:r>
              <a:rPr lang="en-US" b="1" dirty="0"/>
              <a:t>strategic approach</a:t>
            </a:r>
            <a:r>
              <a:rPr lang="en-US" dirty="0"/>
              <a:t> to selecting, designing, and implementing an ERP system that aligns with business goals.</a:t>
            </a:r>
          </a:p>
          <a:p>
            <a:pPr marL="0" indent="0">
              <a:buNone/>
            </a:pPr>
            <a:r>
              <a:rPr lang="en-US" b="1" dirty="0"/>
              <a:t>Steps in ERP Planning:</a:t>
            </a:r>
          </a:p>
          <a:p>
            <a:pPr marL="514350" indent="-514350">
              <a:buFont typeface="+mj-lt"/>
              <a:buAutoNum type="arabicPeriod"/>
            </a:pPr>
            <a:r>
              <a:rPr lang="en-US" b="1" dirty="0"/>
              <a:t>Assess Business Needs:</a:t>
            </a:r>
            <a:r>
              <a:rPr lang="en-US" dirty="0"/>
              <a:t> </a:t>
            </a:r>
          </a:p>
          <a:p>
            <a:r>
              <a:rPr lang="en-US" dirty="0"/>
              <a:t>Find out where the company is facing problems. This may include slow order processing, financial mismanagement, or difficulty in tracking inventory. The aim is to know what needs fixing before choosing the right ERP system.</a:t>
            </a:r>
          </a:p>
          <a:p>
            <a:pPr marL="0" indent="0">
              <a:buNone/>
            </a:pPr>
            <a:r>
              <a:rPr lang="en-US" b="1" dirty="0"/>
              <a:t>2.   Define Objectives:</a:t>
            </a:r>
            <a:endParaRPr lang="en-US" dirty="0"/>
          </a:p>
          <a:p>
            <a:r>
              <a:rPr lang="en-US" dirty="0"/>
              <a:t>Clearly say what the company wants from the ERP system — like working faster, saving money, getting correct data, or making departments work better together.</a:t>
            </a:r>
          </a:p>
        </p:txBody>
      </p:sp>
    </p:spTree>
    <p:extLst>
      <p:ext uri="{BB962C8B-B14F-4D97-AF65-F5344CB8AC3E}">
        <p14:creationId xmlns:p14="http://schemas.microsoft.com/office/powerpoint/2010/main" val="1735355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8254"/>
            <a:ext cx="10515600" cy="770948"/>
          </a:xfrm>
        </p:spPr>
        <p:txBody>
          <a:bodyPr/>
          <a:lstStyle/>
          <a:p>
            <a:r>
              <a:rPr lang="en-US" dirty="0" err="1"/>
              <a:t>Cont</a:t>
            </a:r>
            <a:r>
              <a:rPr lang="en-US" dirty="0"/>
              <a:t>…</a:t>
            </a:r>
          </a:p>
        </p:txBody>
      </p:sp>
      <p:sp>
        <p:nvSpPr>
          <p:cNvPr id="3" name="Content Placeholder 2"/>
          <p:cNvSpPr>
            <a:spLocks noGrp="1"/>
          </p:cNvSpPr>
          <p:nvPr>
            <p:ph idx="1"/>
          </p:nvPr>
        </p:nvSpPr>
        <p:spPr>
          <a:xfrm>
            <a:off x="838200" y="1524000"/>
            <a:ext cx="10515600" cy="4890656"/>
          </a:xfrm>
        </p:spPr>
        <p:txBody>
          <a:bodyPr/>
          <a:lstStyle/>
          <a:p>
            <a:pPr marL="514350" indent="-514350">
              <a:buFont typeface="+mj-lt"/>
              <a:buAutoNum type="arabicPeriod" startAt="3"/>
            </a:pPr>
            <a:r>
              <a:rPr lang="en-US" b="1" dirty="0"/>
              <a:t>Select the Right ERP System:</a:t>
            </a:r>
            <a:r>
              <a:rPr lang="en-US" dirty="0"/>
              <a:t> Companies can choose from </a:t>
            </a:r>
            <a:r>
              <a:rPr lang="en-US" dirty="0" err="1"/>
              <a:t>on-premise</a:t>
            </a:r>
            <a:r>
              <a:rPr lang="en-US" dirty="0"/>
              <a:t> ERP (installed on company servers), cloud-based ERP (hosted online), or hybrid ERP (a mix of both). Each has its pros and cons, depending on the company’s size and budget.</a:t>
            </a:r>
            <a:br>
              <a:rPr lang="en-US" dirty="0"/>
            </a:br>
            <a:endParaRPr lang="en-US" dirty="0"/>
          </a:p>
          <a:p>
            <a:pPr marL="514350" indent="-514350">
              <a:buFont typeface="+mj-lt"/>
              <a:buAutoNum type="arabicPeriod" startAt="3"/>
            </a:pPr>
            <a:r>
              <a:rPr lang="en-US" b="1" dirty="0"/>
              <a:t>Budgeting &amp; Resource Allocation:</a:t>
            </a:r>
            <a:r>
              <a:rPr lang="en-US" dirty="0"/>
              <a:t> Determine the financial and human resources required for ERP implementation, including software costs, infrastructure, training expenses, and ongoing maintenance.</a:t>
            </a:r>
          </a:p>
          <a:p>
            <a:pPr marL="0" indent="0">
              <a:buNone/>
            </a:pPr>
            <a:endParaRPr lang="en-US" dirty="0"/>
          </a:p>
        </p:txBody>
      </p:sp>
    </p:spTree>
    <p:extLst>
      <p:ext uri="{BB962C8B-B14F-4D97-AF65-F5344CB8AC3E}">
        <p14:creationId xmlns:p14="http://schemas.microsoft.com/office/powerpoint/2010/main" val="1028465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8144"/>
            <a:ext cx="10515600" cy="770948"/>
          </a:xfrm>
        </p:spPr>
        <p:txBody>
          <a:bodyPr/>
          <a:lstStyle/>
          <a:p>
            <a:r>
              <a:rPr lang="en-US" dirty="0" err="1"/>
              <a:t>Cont</a:t>
            </a:r>
            <a:r>
              <a:rPr lang="en-US" dirty="0"/>
              <a:t>…</a:t>
            </a:r>
          </a:p>
        </p:txBody>
      </p:sp>
      <p:sp>
        <p:nvSpPr>
          <p:cNvPr id="3" name="Content Placeholder 2"/>
          <p:cNvSpPr>
            <a:spLocks noGrp="1"/>
          </p:cNvSpPr>
          <p:nvPr>
            <p:ph idx="1"/>
          </p:nvPr>
        </p:nvSpPr>
        <p:spPr>
          <a:xfrm>
            <a:off x="838200" y="1330036"/>
            <a:ext cx="10515600" cy="5167746"/>
          </a:xfrm>
        </p:spPr>
        <p:txBody>
          <a:bodyPr/>
          <a:lstStyle/>
          <a:p>
            <a:pPr marL="514350" indent="-514350">
              <a:buFont typeface="+mj-lt"/>
              <a:buAutoNum type="arabicPeriod" startAt="5"/>
            </a:pPr>
            <a:r>
              <a:rPr lang="en-US" b="1" dirty="0"/>
              <a:t>Stakeholder Involvement:</a:t>
            </a:r>
            <a:r>
              <a:rPr lang="en-US" dirty="0"/>
              <a:t> Involving all relevant employees, from IT staff to department heads, ensures a smoother transition. This step also includes gathering input from end-users who will be using the system daily.</a:t>
            </a:r>
          </a:p>
          <a:p>
            <a:pPr marL="514350" indent="-514350">
              <a:buFont typeface="+mj-lt"/>
              <a:buAutoNum type="arabicPeriod" startAt="5"/>
            </a:pPr>
            <a:r>
              <a:rPr lang="en-US" b="1" dirty="0"/>
              <a:t>Risk Assessment:</a:t>
            </a:r>
            <a:r>
              <a:rPr lang="en-US" dirty="0"/>
              <a:t> Identify possible risks like employee resistance to change, data migration issues, or system downtime. Develop contingency plans to address these challenges proactively.</a:t>
            </a:r>
          </a:p>
          <a:p>
            <a:pPr marL="514350" indent="-514350">
              <a:buFont typeface="+mj-lt"/>
              <a:buAutoNum type="arabicPeriod" startAt="5"/>
            </a:pPr>
            <a:r>
              <a:rPr lang="en-US" b="1" dirty="0"/>
              <a:t>Implementation Roadmap:</a:t>
            </a:r>
            <a:r>
              <a:rPr lang="en-US" dirty="0"/>
              <a:t> Develop a clear timeline for ERP deployment, specifying milestones for software installation, testing, employee training, and full system launch.</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957192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8657"/>
          </a:xfrm>
        </p:spPr>
        <p:txBody>
          <a:bodyPr/>
          <a:lstStyle/>
          <a:p>
            <a:r>
              <a:rPr lang="en-US" b="1" dirty="0"/>
              <a:t>ERP Life Cycle</a:t>
            </a:r>
            <a:endParaRPr lang="en-US" dirty="0"/>
          </a:p>
        </p:txBody>
      </p:sp>
      <p:sp>
        <p:nvSpPr>
          <p:cNvPr id="3" name="Content Placeholder 2"/>
          <p:cNvSpPr>
            <a:spLocks noGrp="1"/>
          </p:cNvSpPr>
          <p:nvPr>
            <p:ph idx="1"/>
          </p:nvPr>
        </p:nvSpPr>
        <p:spPr>
          <a:xfrm>
            <a:off x="838200" y="1537855"/>
            <a:ext cx="10515600" cy="4680671"/>
          </a:xfrm>
        </p:spPr>
        <p:txBody>
          <a:bodyPr>
            <a:normAutofit fontScale="85000" lnSpcReduction="20000"/>
          </a:bodyPr>
          <a:lstStyle/>
          <a:p>
            <a:pPr marL="0" indent="0">
              <a:buNone/>
            </a:pPr>
            <a:r>
              <a:rPr lang="en-US" b="1" dirty="0"/>
              <a:t>Phases of ERP Implementation:</a:t>
            </a:r>
          </a:p>
          <a:p>
            <a:pPr marL="0" indent="0">
              <a:buNone/>
            </a:pPr>
            <a:r>
              <a:rPr lang="en-US" b="1" dirty="0"/>
              <a:t>Requirement Analysis</a:t>
            </a:r>
          </a:p>
          <a:p>
            <a:r>
              <a:rPr lang="en-US" dirty="0"/>
              <a:t>Purpose: Understand and document business needs.</a:t>
            </a:r>
          </a:p>
          <a:p>
            <a:r>
              <a:rPr lang="en-US" dirty="0"/>
              <a:t>Example: A supermarket chain wants real-time inventory and sales tracking to avoid stockouts.</a:t>
            </a:r>
          </a:p>
          <a:p>
            <a:pPr marL="0" indent="0">
              <a:buNone/>
            </a:pPr>
            <a:r>
              <a:rPr lang="en-US" b="1" dirty="0"/>
              <a:t>System Selection</a:t>
            </a:r>
          </a:p>
          <a:p>
            <a:r>
              <a:rPr lang="en-US" dirty="0"/>
              <a:t>Purpose: Compare and choose the best ERP system.</a:t>
            </a:r>
          </a:p>
          <a:p>
            <a:r>
              <a:rPr lang="en-US" dirty="0"/>
              <a:t>Example: Choosing SAP ERP for a company because of its strong financial features and compatibility.</a:t>
            </a:r>
          </a:p>
          <a:p>
            <a:pPr marL="0" indent="0">
              <a:buNone/>
            </a:pPr>
            <a:r>
              <a:rPr lang="en-US" b="1" dirty="0"/>
              <a:t>Design &amp; Customization</a:t>
            </a:r>
          </a:p>
          <a:p>
            <a:r>
              <a:rPr lang="en-US" dirty="0"/>
              <a:t>Purpose: Configure the ERP system to fit specific organizational needs.</a:t>
            </a:r>
          </a:p>
          <a:p>
            <a:r>
              <a:rPr lang="en-US" dirty="0"/>
              <a:t>Example: A hospital customizes ERP to include patient management, staff scheduling, and medical inventory tracking.</a:t>
            </a:r>
          </a:p>
          <a:p>
            <a:pPr marL="0" indent="0">
              <a:buNone/>
            </a:pPr>
            <a:endParaRPr lang="en-US" dirty="0"/>
          </a:p>
        </p:txBody>
      </p:sp>
    </p:spTree>
    <p:extLst>
      <p:ext uri="{BB962C8B-B14F-4D97-AF65-F5344CB8AC3E}">
        <p14:creationId xmlns:p14="http://schemas.microsoft.com/office/powerpoint/2010/main" val="1182444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9493"/>
          </a:xfrm>
        </p:spPr>
        <p:txBody>
          <a:bodyPr/>
          <a:lstStyle/>
          <a:p>
            <a:r>
              <a:rPr lang="en-US" dirty="0" err="1"/>
              <a:t>Cont</a:t>
            </a:r>
            <a:r>
              <a:rPr lang="en-US" dirty="0"/>
              <a:t>…</a:t>
            </a:r>
          </a:p>
        </p:txBody>
      </p:sp>
      <p:sp>
        <p:nvSpPr>
          <p:cNvPr id="3" name="Content Placeholder 2"/>
          <p:cNvSpPr>
            <a:spLocks noGrp="1"/>
          </p:cNvSpPr>
          <p:nvPr>
            <p:ph idx="1"/>
          </p:nvPr>
        </p:nvSpPr>
        <p:spPr>
          <a:xfrm>
            <a:off x="838200" y="1579418"/>
            <a:ext cx="10515600" cy="4597545"/>
          </a:xfrm>
        </p:spPr>
        <p:txBody>
          <a:bodyPr>
            <a:normAutofit fontScale="77500" lnSpcReduction="20000"/>
          </a:bodyPr>
          <a:lstStyle/>
          <a:p>
            <a:pPr marL="0" indent="0">
              <a:buNone/>
            </a:pPr>
            <a:r>
              <a:rPr lang="en-US" b="1" dirty="0"/>
              <a:t>Implementation &amp; Testing</a:t>
            </a:r>
          </a:p>
          <a:p>
            <a:r>
              <a:rPr lang="en-US" dirty="0"/>
              <a:t>Purpose: Install and test the ERP system to identify issues before full deployment.</a:t>
            </a:r>
          </a:p>
          <a:p>
            <a:r>
              <a:rPr lang="en-US" dirty="0"/>
              <a:t>Example: A logistics company tests ERP to ensure it accurately tracks shipment locations.</a:t>
            </a:r>
          </a:p>
          <a:p>
            <a:pPr marL="0" indent="0">
              <a:buNone/>
            </a:pPr>
            <a:endParaRPr lang="en-US" dirty="0"/>
          </a:p>
          <a:p>
            <a:pPr marL="0" indent="0">
              <a:buNone/>
            </a:pPr>
            <a:r>
              <a:rPr lang="en-US" b="1" dirty="0"/>
              <a:t>Training &amp; Change Management</a:t>
            </a:r>
          </a:p>
          <a:p>
            <a:r>
              <a:rPr lang="en-US" dirty="0"/>
              <a:t>Purpose: Train staff and manage transition to the new system.</a:t>
            </a:r>
          </a:p>
          <a:p>
            <a:r>
              <a:rPr lang="en-US" dirty="0"/>
              <a:t>Example: A retail store trains cashiers and inventory managers to use ERP for sales and stock updates.</a:t>
            </a:r>
          </a:p>
          <a:p>
            <a:pPr marL="0" indent="0">
              <a:buNone/>
            </a:pPr>
            <a:endParaRPr lang="en-US" dirty="0"/>
          </a:p>
          <a:p>
            <a:pPr marL="0" indent="0">
              <a:buNone/>
            </a:pPr>
            <a:r>
              <a:rPr lang="en-US" b="1" dirty="0"/>
              <a:t>Go-Live &amp; Maintenance</a:t>
            </a:r>
          </a:p>
          <a:p>
            <a:r>
              <a:rPr lang="en-US" dirty="0"/>
              <a:t>Purpose: Officially launch the ERP system and continue support and updates.</a:t>
            </a:r>
          </a:p>
          <a:p>
            <a:r>
              <a:rPr lang="en-US" dirty="0"/>
              <a:t>Example: A bank monitors ERP performance post-launch and makes improvements for better customer transactions.</a:t>
            </a:r>
          </a:p>
        </p:txBody>
      </p:sp>
    </p:spTree>
    <p:extLst>
      <p:ext uri="{BB962C8B-B14F-4D97-AF65-F5344CB8AC3E}">
        <p14:creationId xmlns:p14="http://schemas.microsoft.com/office/powerpoint/2010/main" val="2363815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7930"/>
          </a:xfrm>
        </p:spPr>
        <p:txBody>
          <a:bodyPr/>
          <a:lstStyle/>
          <a:p>
            <a:r>
              <a:rPr lang="en-US" dirty="0" err="1"/>
              <a:t>Cont</a:t>
            </a:r>
            <a:r>
              <a:rPr lang="en-US" dirty="0"/>
              <a:t>…</a:t>
            </a:r>
          </a:p>
        </p:txBody>
      </p:sp>
      <p:sp>
        <p:nvSpPr>
          <p:cNvPr id="3" name="Content Placeholder 2"/>
          <p:cNvSpPr>
            <a:spLocks noGrp="1"/>
          </p:cNvSpPr>
          <p:nvPr>
            <p:ph idx="1"/>
          </p:nvPr>
        </p:nvSpPr>
        <p:spPr>
          <a:xfrm>
            <a:off x="838200" y="1648691"/>
            <a:ext cx="10515600" cy="4528272"/>
          </a:xfrm>
        </p:spPr>
        <p:txBody>
          <a:bodyPr/>
          <a:lstStyle/>
          <a:p>
            <a:pPr marL="514350" indent="-514350">
              <a:buFont typeface="+mj-lt"/>
              <a:buAutoNum type="arabicPeriod" startAt="5"/>
            </a:pPr>
            <a:r>
              <a:rPr lang="en-US" b="1" dirty="0"/>
              <a:t>Training &amp; Change Management:</a:t>
            </a:r>
            <a:r>
              <a:rPr lang="en-US" dirty="0"/>
              <a:t> Employees receive proper training on how to use the new system. Example: A retail store trains cashiers and inventory managers to efficiently use ERP for sales and stock updates.</a:t>
            </a:r>
            <a:br>
              <a:rPr lang="en-US" dirty="0"/>
            </a:br>
            <a:endParaRPr lang="en-US" dirty="0"/>
          </a:p>
          <a:p>
            <a:pPr marL="514350" indent="-514350">
              <a:buFont typeface="+mj-lt"/>
              <a:buAutoNum type="arabicPeriod" startAt="5"/>
            </a:pPr>
            <a:r>
              <a:rPr lang="en-US" b="1" dirty="0"/>
              <a:t>Go-Live &amp; Maintenance:</a:t>
            </a:r>
            <a:r>
              <a:rPr lang="en-US" dirty="0"/>
              <a:t> The ERP system is officially launched, and continuous monitoring is conducted to fix any post-launch issues. Example: A bank tracks performance after go-live and makes adjustments for improved customer transactions.</a:t>
            </a:r>
          </a:p>
          <a:p>
            <a:pPr marL="0" indent="0">
              <a:buNone/>
            </a:pPr>
            <a:endParaRPr lang="en-US" dirty="0"/>
          </a:p>
        </p:txBody>
      </p:sp>
    </p:spTree>
    <p:extLst>
      <p:ext uri="{BB962C8B-B14F-4D97-AF65-F5344CB8AC3E}">
        <p14:creationId xmlns:p14="http://schemas.microsoft.com/office/powerpoint/2010/main" val="4102300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ERP Vendors</a:t>
            </a:r>
            <a:endParaRPr lang="en-US" dirty="0"/>
          </a:p>
        </p:txBody>
      </p:sp>
      <p:sp>
        <p:nvSpPr>
          <p:cNvPr id="3" name="Content Placeholder 2"/>
          <p:cNvSpPr>
            <a:spLocks noGrp="1"/>
          </p:cNvSpPr>
          <p:nvPr>
            <p:ph idx="1"/>
          </p:nvPr>
        </p:nvSpPr>
        <p:spPr/>
        <p:txBody>
          <a:bodyPr/>
          <a:lstStyle/>
          <a:p>
            <a:pPr marL="0" indent="0">
              <a:buNone/>
            </a:pPr>
            <a:r>
              <a:rPr lang="en-US" dirty="0"/>
              <a:t>Top ERP Providers &amp; Their Strengths:</a:t>
            </a:r>
          </a:p>
          <a:p>
            <a:pPr marL="0" indent="0">
              <a:buNone/>
            </a:pP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817615598"/>
              </p:ext>
            </p:extLst>
          </p:nvPr>
        </p:nvGraphicFramePr>
        <p:xfrm>
          <a:off x="1333500" y="2862446"/>
          <a:ext cx="9525000" cy="2873334"/>
        </p:xfrm>
        <a:graphic>
          <a:graphicData uri="http://schemas.openxmlformats.org/drawingml/2006/table">
            <a:tbl>
              <a:tblPr>
                <a:tableStyleId>{2D5ABB26-0587-4C30-8999-92F81FD0307C}</a:tableStyleId>
              </a:tblPr>
              <a:tblGrid>
                <a:gridCol w="4762500">
                  <a:extLst>
                    <a:ext uri="{9D8B030D-6E8A-4147-A177-3AD203B41FA5}">
                      <a16:colId xmlns:a16="http://schemas.microsoft.com/office/drawing/2014/main" val="3938885351"/>
                    </a:ext>
                  </a:extLst>
                </a:gridCol>
                <a:gridCol w="4762500">
                  <a:extLst>
                    <a:ext uri="{9D8B030D-6E8A-4147-A177-3AD203B41FA5}">
                      <a16:colId xmlns:a16="http://schemas.microsoft.com/office/drawing/2014/main" val="3151656249"/>
                    </a:ext>
                  </a:extLst>
                </a:gridCol>
              </a:tblGrid>
              <a:tr h="478889">
                <a:tc>
                  <a:txBody>
                    <a:bodyPr/>
                    <a:lstStyle/>
                    <a:p>
                      <a:pPr algn="ctr"/>
                      <a:r>
                        <a:rPr lang="en-US" sz="2400" b="1"/>
                        <a:t>Vendor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784464"/>
                  </a:ext>
                </a:extLst>
              </a:tr>
              <a:tr h="478889">
                <a:tc>
                  <a:txBody>
                    <a:bodyPr/>
                    <a:lstStyle/>
                    <a:p>
                      <a:r>
                        <a:rPr lang="en-US"/>
                        <a:t>SAP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Comprehensive solution for large enterprises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1359647"/>
                  </a:ext>
                </a:extLst>
              </a:tr>
              <a:tr h="478889">
                <a:tc>
                  <a:txBody>
                    <a:bodyPr/>
                    <a:lstStyle/>
                    <a:p>
                      <a:r>
                        <a:rPr lang="en-US"/>
                        <a:t>Oracle ERP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Strong financial and data analytics capabilities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6493222"/>
                  </a:ext>
                </a:extLst>
              </a:tr>
              <a:tr h="478889">
                <a:tc>
                  <a:txBody>
                    <a:bodyPr/>
                    <a:lstStyle/>
                    <a:p>
                      <a:r>
                        <a:rPr lang="en-US"/>
                        <a:t>Microsoft Dynamics 365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Easy integration with Microsoft products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9362262"/>
                  </a:ext>
                </a:extLst>
              </a:tr>
              <a:tr h="478889">
                <a:tc>
                  <a:txBody>
                    <a:bodyPr/>
                    <a:lstStyle/>
                    <a:p>
                      <a:r>
                        <a:rPr lang="en-US"/>
                        <a:t>Infor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Industry-specific ERP solutions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398933"/>
                  </a:ext>
                </a:extLst>
              </a:tr>
              <a:tr h="478889">
                <a:tc>
                  <a:txBody>
                    <a:bodyPr/>
                    <a:lstStyle/>
                    <a:p>
                      <a:r>
                        <a:rPr lang="en-US"/>
                        <a:t>Workday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Best for HR and financial planning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0344604"/>
                  </a:ext>
                </a:extLst>
              </a:tr>
            </a:tbl>
          </a:graphicData>
        </a:graphic>
      </p:graphicFrame>
    </p:spTree>
    <p:extLst>
      <p:ext uri="{BB962C8B-B14F-4D97-AF65-F5344CB8AC3E}">
        <p14:creationId xmlns:p14="http://schemas.microsoft.com/office/powerpoint/2010/main" val="665735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Case Study: Business Transformation Through ERP</a:t>
            </a:r>
            <a:endParaRPr lang="en-US" dirty="0"/>
          </a:p>
        </p:txBody>
      </p:sp>
      <p:sp>
        <p:nvSpPr>
          <p:cNvPr id="3" name="Content Placeholder 2"/>
          <p:cNvSpPr>
            <a:spLocks noGrp="1"/>
          </p:cNvSpPr>
          <p:nvPr>
            <p:ph idx="1"/>
          </p:nvPr>
        </p:nvSpPr>
        <p:spPr/>
        <p:txBody>
          <a:bodyPr/>
          <a:lstStyle/>
          <a:p>
            <a:pPr marL="0" indent="0">
              <a:buNone/>
            </a:pPr>
            <a:r>
              <a:rPr lang="en-US" b="1" dirty="0"/>
              <a:t>Example: </a:t>
            </a:r>
            <a:r>
              <a:rPr lang="en-US" dirty="0"/>
              <a:t>Amazon</a:t>
            </a:r>
          </a:p>
          <a:p>
            <a:pPr marL="0" indent="0">
              <a:buNone/>
            </a:pPr>
            <a:r>
              <a:rPr lang="en-US" b="1" dirty="0"/>
              <a:t>Case Study: Business Transformation Through ERP</a:t>
            </a:r>
          </a:p>
          <a:p>
            <a:pPr marL="0" indent="0">
              <a:buNone/>
            </a:pPr>
            <a:br>
              <a:rPr lang="en-US" dirty="0"/>
            </a:br>
            <a:r>
              <a:rPr lang="en-US" b="1" dirty="0"/>
              <a:t>Problem:</a:t>
            </a:r>
            <a:r>
              <a:rPr lang="en-US" dirty="0"/>
              <a:t> Disconnected logistics and supply chain issues. </a:t>
            </a:r>
          </a:p>
          <a:p>
            <a:pPr marL="0" indent="0">
              <a:buNone/>
            </a:pPr>
            <a:r>
              <a:rPr lang="en-US" b="1" dirty="0"/>
              <a:t>Solution:</a:t>
            </a:r>
            <a:r>
              <a:rPr lang="en-US" dirty="0"/>
              <a:t> Implemented a customized ERP system to integrate warehouses and streamline order processing. </a:t>
            </a:r>
          </a:p>
          <a:p>
            <a:pPr marL="0" indent="0">
              <a:buNone/>
            </a:pPr>
            <a:endParaRPr lang="en-US" dirty="0"/>
          </a:p>
          <a:p>
            <a:pPr marL="0" indent="0">
              <a:buNone/>
            </a:pPr>
            <a:r>
              <a:rPr lang="en-US" b="1" dirty="0"/>
              <a:t>Result:</a:t>
            </a:r>
            <a:r>
              <a:rPr lang="en-US" dirty="0"/>
              <a:t> Reduced delivery times, optimized inventory, and enhanced customer satisfaction.</a:t>
            </a:r>
          </a:p>
          <a:p>
            <a:pPr marL="0" indent="0">
              <a:buNone/>
            </a:pPr>
            <a:endParaRPr lang="en-US" dirty="0"/>
          </a:p>
        </p:txBody>
      </p:sp>
    </p:spTree>
    <p:extLst>
      <p:ext uri="{BB962C8B-B14F-4D97-AF65-F5344CB8AC3E}">
        <p14:creationId xmlns:p14="http://schemas.microsoft.com/office/powerpoint/2010/main" val="3934329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Case Study for Practice</a:t>
            </a:r>
            <a:endParaRPr lang="en-US" dirty="0"/>
          </a:p>
        </p:txBody>
      </p:sp>
      <p:sp>
        <p:nvSpPr>
          <p:cNvPr id="3" name="Content Placeholder 2"/>
          <p:cNvSpPr>
            <a:spLocks noGrp="1"/>
          </p:cNvSpPr>
          <p:nvPr>
            <p:ph idx="1"/>
          </p:nvPr>
        </p:nvSpPr>
        <p:spPr/>
        <p:txBody>
          <a:bodyPr/>
          <a:lstStyle/>
          <a:p>
            <a:pPr marL="0" indent="0">
              <a:buNone/>
            </a:pPr>
            <a:r>
              <a:rPr lang="en-US" dirty="0"/>
              <a:t>XYZ Retail is a mid-sized company that operates 30 retail stores across the country. They have been using separate software systems for managing inventory, sales, and finance, leading to inefficiencies and miscommunication between departments.</a:t>
            </a:r>
          </a:p>
          <a:p>
            <a:pPr marL="0" indent="0">
              <a:buNone/>
            </a:pPr>
            <a:endParaRPr lang="en-US" dirty="0"/>
          </a:p>
          <a:p>
            <a:pPr marL="514350" indent="-514350">
              <a:buFont typeface="+mj-lt"/>
              <a:buAutoNum type="arabicPeriod"/>
            </a:pPr>
            <a:r>
              <a:rPr lang="en-US" dirty="0"/>
              <a:t>Mention the current challenges they are facing.</a:t>
            </a:r>
          </a:p>
          <a:p>
            <a:pPr marL="514350" indent="-514350">
              <a:buFont typeface="+mj-lt"/>
              <a:buAutoNum type="arabicPeriod"/>
            </a:pPr>
            <a:r>
              <a:rPr lang="en-US" dirty="0"/>
              <a:t>What factors should XYZ Retail consider when selecting an ERP system?</a:t>
            </a:r>
          </a:p>
        </p:txBody>
      </p:sp>
    </p:spTree>
    <p:extLst>
      <p:ext uri="{BB962C8B-B14F-4D97-AF65-F5344CB8AC3E}">
        <p14:creationId xmlns:p14="http://schemas.microsoft.com/office/powerpoint/2010/main" val="3247919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3242-F70C-0E0E-EC07-381ECB85D9EB}"/>
              </a:ext>
            </a:extLst>
          </p:cNvPr>
          <p:cNvSpPr>
            <a:spLocks noGrp="1"/>
          </p:cNvSpPr>
          <p:nvPr>
            <p:ph type="title"/>
          </p:nvPr>
        </p:nvSpPr>
        <p:spPr/>
        <p:txBody>
          <a:bodyPr/>
          <a:lstStyle/>
          <a:p>
            <a:endParaRPr lang="en-US"/>
          </a:p>
        </p:txBody>
      </p:sp>
      <p:graphicFrame>
        <p:nvGraphicFramePr>
          <p:cNvPr id="8" name="Content Placeholder 7">
            <a:extLst>
              <a:ext uri="{FF2B5EF4-FFF2-40B4-BE49-F238E27FC236}">
                <a16:creationId xmlns:a16="http://schemas.microsoft.com/office/drawing/2014/main" id="{E63E690A-AF10-FE91-70B7-937465827448}"/>
              </a:ext>
            </a:extLst>
          </p:cNvPr>
          <p:cNvGraphicFramePr>
            <a:graphicFrameLocks noGrp="1"/>
          </p:cNvGraphicFramePr>
          <p:nvPr>
            <p:ph idx="1"/>
            <p:extLst>
              <p:ext uri="{D42A27DB-BD31-4B8C-83A1-F6EECF244321}">
                <p14:modId xmlns:p14="http://schemas.microsoft.com/office/powerpoint/2010/main" val="1840709297"/>
              </p:ext>
            </p:extLst>
          </p:nvPr>
        </p:nvGraphicFramePr>
        <p:xfrm>
          <a:off x="838200" y="3429000"/>
          <a:ext cx="10515600" cy="3108960"/>
        </p:xfrm>
        <a:graphic>
          <a:graphicData uri="http://schemas.openxmlformats.org/drawingml/2006/table">
            <a:tbl>
              <a:tblPr/>
              <a:tblGrid>
                <a:gridCol w="5257800">
                  <a:extLst>
                    <a:ext uri="{9D8B030D-6E8A-4147-A177-3AD203B41FA5}">
                      <a16:colId xmlns:a16="http://schemas.microsoft.com/office/drawing/2014/main" val="2556170971"/>
                    </a:ext>
                  </a:extLst>
                </a:gridCol>
                <a:gridCol w="5257800">
                  <a:extLst>
                    <a:ext uri="{9D8B030D-6E8A-4147-A177-3AD203B41FA5}">
                      <a16:colId xmlns:a16="http://schemas.microsoft.com/office/drawing/2014/main" val="326516883"/>
                    </a:ext>
                  </a:extLst>
                </a:gridCol>
              </a:tblGrid>
              <a:tr h="0">
                <a:tc>
                  <a:txBody>
                    <a:bodyPr/>
                    <a:lstStyle/>
                    <a:p>
                      <a:r>
                        <a:rPr lang="en-US"/>
                        <a:t>Factor</a:t>
                      </a:r>
                    </a:p>
                  </a:txBody>
                  <a:tcPr anchor="ctr">
                    <a:lnL>
                      <a:noFill/>
                    </a:lnL>
                    <a:lnR>
                      <a:noFill/>
                    </a:lnR>
                    <a:lnT>
                      <a:noFill/>
                    </a:lnT>
                    <a:lnB>
                      <a:noFill/>
                    </a:lnB>
                    <a:noFill/>
                  </a:tcPr>
                </a:tc>
                <a:tc>
                  <a:txBody>
                    <a:bodyPr/>
                    <a:lstStyle/>
                    <a:p>
                      <a:r>
                        <a:rPr lang="en-US"/>
                        <a:t>Explanation</a:t>
                      </a:r>
                    </a:p>
                  </a:txBody>
                  <a:tcPr anchor="ctr">
                    <a:lnL>
                      <a:noFill/>
                    </a:lnL>
                    <a:lnR>
                      <a:noFill/>
                    </a:lnR>
                    <a:lnT>
                      <a:noFill/>
                    </a:lnT>
                    <a:lnB>
                      <a:noFill/>
                    </a:lnB>
                    <a:noFill/>
                  </a:tcPr>
                </a:tc>
                <a:extLst>
                  <a:ext uri="{0D108BD9-81ED-4DB2-BD59-A6C34878D82A}">
                    <a16:rowId xmlns:a16="http://schemas.microsoft.com/office/drawing/2014/main" val="761176720"/>
                  </a:ext>
                </a:extLst>
              </a:tr>
              <a:tr h="0">
                <a:tc>
                  <a:txBody>
                    <a:bodyPr/>
                    <a:lstStyle/>
                    <a:p>
                      <a:r>
                        <a:rPr lang="en-US"/>
                        <a:t>✅ Business Size</a:t>
                      </a:r>
                    </a:p>
                  </a:txBody>
                  <a:tcPr anchor="ctr">
                    <a:lnL>
                      <a:noFill/>
                    </a:lnL>
                    <a:lnR>
                      <a:noFill/>
                    </a:lnR>
                    <a:lnT>
                      <a:noFill/>
                    </a:lnT>
                    <a:lnB>
                      <a:noFill/>
                    </a:lnB>
                    <a:noFill/>
                  </a:tcPr>
                </a:tc>
                <a:tc>
                  <a:txBody>
                    <a:bodyPr/>
                    <a:lstStyle/>
                    <a:p>
                      <a:r>
                        <a:rPr lang="en-US"/>
                        <a:t>Choose a system that supports 30+ locations.</a:t>
                      </a:r>
                    </a:p>
                  </a:txBody>
                  <a:tcPr anchor="ctr">
                    <a:lnL>
                      <a:noFill/>
                    </a:lnL>
                    <a:lnR>
                      <a:noFill/>
                    </a:lnR>
                    <a:lnT>
                      <a:noFill/>
                    </a:lnT>
                    <a:lnB>
                      <a:noFill/>
                    </a:lnB>
                    <a:noFill/>
                  </a:tcPr>
                </a:tc>
                <a:extLst>
                  <a:ext uri="{0D108BD9-81ED-4DB2-BD59-A6C34878D82A}">
                    <a16:rowId xmlns:a16="http://schemas.microsoft.com/office/drawing/2014/main" val="2987318434"/>
                  </a:ext>
                </a:extLst>
              </a:tr>
              <a:tr h="0">
                <a:tc>
                  <a:txBody>
                    <a:bodyPr/>
                    <a:lstStyle/>
                    <a:p>
                      <a:r>
                        <a:rPr lang="en-US"/>
                        <a:t>✅ Budget</a:t>
                      </a:r>
                    </a:p>
                  </a:txBody>
                  <a:tcPr anchor="ctr">
                    <a:lnL>
                      <a:noFill/>
                    </a:lnL>
                    <a:lnR>
                      <a:noFill/>
                    </a:lnR>
                    <a:lnT>
                      <a:noFill/>
                    </a:lnT>
                    <a:lnB>
                      <a:noFill/>
                    </a:lnB>
                    <a:noFill/>
                  </a:tcPr>
                </a:tc>
                <a:tc>
                  <a:txBody>
                    <a:bodyPr/>
                    <a:lstStyle/>
                    <a:p>
                      <a:r>
                        <a:rPr lang="en-US"/>
                        <a:t>Check if cloud-based ERP fits better to avoid hardware costs.</a:t>
                      </a:r>
                    </a:p>
                  </a:txBody>
                  <a:tcPr anchor="ctr">
                    <a:lnL>
                      <a:noFill/>
                    </a:lnL>
                    <a:lnR>
                      <a:noFill/>
                    </a:lnR>
                    <a:lnT>
                      <a:noFill/>
                    </a:lnT>
                    <a:lnB>
                      <a:noFill/>
                    </a:lnB>
                    <a:noFill/>
                  </a:tcPr>
                </a:tc>
                <a:extLst>
                  <a:ext uri="{0D108BD9-81ED-4DB2-BD59-A6C34878D82A}">
                    <a16:rowId xmlns:a16="http://schemas.microsoft.com/office/drawing/2014/main" val="2316193761"/>
                  </a:ext>
                </a:extLst>
              </a:tr>
              <a:tr h="0">
                <a:tc>
                  <a:txBody>
                    <a:bodyPr/>
                    <a:lstStyle/>
                    <a:p>
                      <a:r>
                        <a:rPr lang="en-US"/>
                        <a:t>✅ Features Needed</a:t>
                      </a:r>
                    </a:p>
                  </a:txBody>
                  <a:tcPr anchor="ctr">
                    <a:lnL>
                      <a:noFill/>
                    </a:lnL>
                    <a:lnR>
                      <a:noFill/>
                    </a:lnR>
                    <a:lnT>
                      <a:noFill/>
                    </a:lnT>
                    <a:lnB>
                      <a:noFill/>
                    </a:lnB>
                    <a:noFill/>
                  </a:tcPr>
                </a:tc>
                <a:tc>
                  <a:txBody>
                    <a:bodyPr/>
                    <a:lstStyle/>
                    <a:p>
                      <a:r>
                        <a:rPr lang="en-US"/>
                        <a:t>Must include </a:t>
                      </a:r>
                      <a:r>
                        <a:rPr lang="en-US" b="1"/>
                        <a:t>inventory</a:t>
                      </a:r>
                      <a:r>
                        <a:rPr lang="en-US"/>
                        <a:t>, </a:t>
                      </a:r>
                      <a:r>
                        <a:rPr lang="en-US" b="1"/>
                        <a:t>sales</a:t>
                      </a:r>
                      <a:r>
                        <a:rPr lang="en-US"/>
                        <a:t>, </a:t>
                      </a:r>
                      <a:r>
                        <a:rPr lang="en-US" b="1"/>
                        <a:t>finance</a:t>
                      </a:r>
                      <a:r>
                        <a:rPr lang="en-US"/>
                        <a:t>, and </a:t>
                      </a:r>
                      <a:r>
                        <a:rPr lang="en-US" b="1"/>
                        <a:t>customer management</a:t>
                      </a:r>
                      <a:r>
                        <a:rPr lang="en-US"/>
                        <a:t>.</a:t>
                      </a:r>
                    </a:p>
                  </a:txBody>
                  <a:tcPr anchor="ctr">
                    <a:lnL>
                      <a:noFill/>
                    </a:lnL>
                    <a:lnR>
                      <a:noFill/>
                    </a:lnR>
                    <a:lnT>
                      <a:noFill/>
                    </a:lnT>
                    <a:lnB>
                      <a:noFill/>
                    </a:lnB>
                    <a:noFill/>
                  </a:tcPr>
                </a:tc>
                <a:extLst>
                  <a:ext uri="{0D108BD9-81ED-4DB2-BD59-A6C34878D82A}">
                    <a16:rowId xmlns:a16="http://schemas.microsoft.com/office/drawing/2014/main" val="1546101276"/>
                  </a:ext>
                </a:extLst>
              </a:tr>
              <a:tr h="0">
                <a:tc>
                  <a:txBody>
                    <a:bodyPr/>
                    <a:lstStyle/>
                    <a:p>
                      <a:r>
                        <a:rPr lang="en-US"/>
                        <a:t>✅ Integration</a:t>
                      </a:r>
                    </a:p>
                  </a:txBody>
                  <a:tcPr anchor="ctr">
                    <a:lnL>
                      <a:noFill/>
                    </a:lnL>
                    <a:lnR>
                      <a:noFill/>
                    </a:lnR>
                    <a:lnT>
                      <a:noFill/>
                    </a:lnT>
                    <a:lnB>
                      <a:noFill/>
                    </a:lnB>
                    <a:noFill/>
                  </a:tcPr>
                </a:tc>
                <a:tc>
                  <a:txBody>
                    <a:bodyPr/>
                    <a:lstStyle/>
                    <a:p>
                      <a:r>
                        <a:rPr lang="en-US"/>
                        <a:t>Can it replace current systems smoothly?</a:t>
                      </a:r>
                    </a:p>
                  </a:txBody>
                  <a:tcPr anchor="ctr">
                    <a:lnL>
                      <a:noFill/>
                    </a:lnL>
                    <a:lnR>
                      <a:noFill/>
                    </a:lnR>
                    <a:lnT>
                      <a:noFill/>
                    </a:lnT>
                    <a:lnB>
                      <a:noFill/>
                    </a:lnB>
                    <a:noFill/>
                  </a:tcPr>
                </a:tc>
                <a:extLst>
                  <a:ext uri="{0D108BD9-81ED-4DB2-BD59-A6C34878D82A}">
                    <a16:rowId xmlns:a16="http://schemas.microsoft.com/office/drawing/2014/main" val="861419688"/>
                  </a:ext>
                </a:extLst>
              </a:tr>
              <a:tr h="0">
                <a:tc>
                  <a:txBody>
                    <a:bodyPr/>
                    <a:lstStyle/>
                    <a:p>
                      <a:r>
                        <a:rPr lang="en-US"/>
                        <a:t>✅ User-Friendliness</a:t>
                      </a:r>
                    </a:p>
                  </a:txBody>
                  <a:tcPr anchor="ctr">
                    <a:lnL>
                      <a:noFill/>
                    </a:lnL>
                    <a:lnR>
                      <a:noFill/>
                    </a:lnR>
                    <a:lnT>
                      <a:noFill/>
                    </a:lnT>
                    <a:lnB>
                      <a:noFill/>
                    </a:lnB>
                    <a:noFill/>
                  </a:tcPr>
                </a:tc>
                <a:tc>
                  <a:txBody>
                    <a:bodyPr/>
                    <a:lstStyle/>
                    <a:p>
                      <a:r>
                        <a:rPr lang="en-US"/>
                        <a:t>Easy for employees to learn and use.</a:t>
                      </a:r>
                    </a:p>
                  </a:txBody>
                  <a:tcPr anchor="ctr">
                    <a:lnL>
                      <a:noFill/>
                    </a:lnL>
                    <a:lnR>
                      <a:noFill/>
                    </a:lnR>
                    <a:lnT>
                      <a:noFill/>
                    </a:lnT>
                    <a:lnB>
                      <a:noFill/>
                    </a:lnB>
                    <a:noFill/>
                  </a:tcPr>
                </a:tc>
                <a:extLst>
                  <a:ext uri="{0D108BD9-81ED-4DB2-BD59-A6C34878D82A}">
                    <a16:rowId xmlns:a16="http://schemas.microsoft.com/office/drawing/2014/main" val="1795543094"/>
                  </a:ext>
                </a:extLst>
              </a:tr>
              <a:tr h="0">
                <a:tc>
                  <a:txBody>
                    <a:bodyPr/>
                    <a:lstStyle/>
                    <a:p>
                      <a:r>
                        <a:rPr lang="en-US"/>
                        <a:t>✅ Vendor Support</a:t>
                      </a:r>
                    </a:p>
                  </a:txBody>
                  <a:tcPr anchor="ctr">
                    <a:lnL>
                      <a:noFill/>
                    </a:lnL>
                    <a:lnR>
                      <a:noFill/>
                    </a:lnR>
                    <a:lnT>
                      <a:noFill/>
                    </a:lnT>
                    <a:lnB>
                      <a:noFill/>
                    </a:lnB>
                    <a:noFill/>
                  </a:tcPr>
                </a:tc>
                <a:tc>
                  <a:txBody>
                    <a:bodyPr/>
                    <a:lstStyle/>
                    <a:p>
                      <a:r>
                        <a:rPr lang="en-US" dirty="0"/>
                        <a:t>Good after-sales service and training support.</a:t>
                      </a:r>
                    </a:p>
                  </a:txBody>
                  <a:tcPr anchor="ctr">
                    <a:lnL>
                      <a:noFill/>
                    </a:lnL>
                    <a:lnR>
                      <a:noFill/>
                    </a:lnR>
                    <a:lnT>
                      <a:noFill/>
                    </a:lnT>
                    <a:lnB>
                      <a:noFill/>
                    </a:lnB>
                    <a:noFill/>
                  </a:tcPr>
                </a:tc>
                <a:extLst>
                  <a:ext uri="{0D108BD9-81ED-4DB2-BD59-A6C34878D82A}">
                    <a16:rowId xmlns:a16="http://schemas.microsoft.com/office/drawing/2014/main" val="546888379"/>
                  </a:ext>
                </a:extLst>
              </a:tr>
            </a:tbl>
          </a:graphicData>
        </a:graphic>
      </p:graphicFrame>
      <p:sp>
        <p:nvSpPr>
          <p:cNvPr id="9" name="Rectangle 4">
            <a:extLst>
              <a:ext uri="{FF2B5EF4-FFF2-40B4-BE49-F238E27FC236}">
                <a16:creationId xmlns:a16="http://schemas.microsoft.com/office/drawing/2014/main" id="{6963E369-9982-8B4D-CAFD-1A11901CD0AB}"/>
              </a:ext>
            </a:extLst>
          </p:cNvPr>
          <p:cNvSpPr>
            <a:spLocks noChangeArrowheads="1"/>
          </p:cNvSpPr>
          <p:nvPr/>
        </p:nvSpPr>
        <p:spPr bwMode="auto">
          <a:xfrm>
            <a:off x="838200" y="23764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 1. Current Challenges: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Data is </a:t>
            </a:r>
            <a:r>
              <a:rPr kumimoji="0" lang="en-US" altLang="en-US" sz="1800" b="1" i="0" u="none" strike="noStrike" cap="none" normalizeH="0" baseline="0" dirty="0">
                <a:ln>
                  <a:noFill/>
                </a:ln>
                <a:solidFill>
                  <a:schemeClr val="tx1"/>
                </a:solidFill>
                <a:effectLst/>
                <a:latin typeface="Arial" panose="020B0604020202020204" pitchFamily="34" charset="0"/>
              </a:rPr>
              <a:t>not centralized</a:t>
            </a:r>
            <a:r>
              <a:rPr kumimoji="0" lang="en-US" altLang="en-US" sz="1800" b="0" i="0" u="none" strike="noStrike" cap="none" normalizeH="0" baseline="0" dirty="0">
                <a:ln>
                  <a:noFill/>
                </a:ln>
                <a:solidFill>
                  <a:schemeClr val="tx1"/>
                </a:solidFill>
                <a:effectLst/>
                <a:latin typeface="Arial" panose="020B0604020202020204" pitchFamily="34" charset="0"/>
              </a:rPr>
              <a:t> (each department has its own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Poor communication</a:t>
            </a:r>
            <a:r>
              <a:rPr kumimoji="0" lang="en-US" altLang="en-US" sz="1800" b="0" i="0" u="none" strike="noStrike" cap="none" normalizeH="0" baseline="0" dirty="0">
                <a:ln>
                  <a:noFill/>
                </a:ln>
                <a:solidFill>
                  <a:schemeClr val="tx1"/>
                </a:solidFill>
                <a:effectLst/>
                <a:latin typeface="Arial" panose="020B0604020202020204" pitchFamily="34" charset="0"/>
              </a:rPr>
              <a:t> between departments.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data entry causes </a:t>
            </a:r>
            <a:r>
              <a:rPr kumimoji="0" lang="en-US" altLang="en-US" sz="1800" b="1" i="0" u="none" strike="noStrike" cap="none" normalizeH="0" baseline="0" dirty="0">
                <a:ln>
                  <a:noFill/>
                </a:ln>
                <a:solidFill>
                  <a:schemeClr val="tx1"/>
                </a:solidFill>
                <a:effectLst/>
                <a:latin typeface="Arial" panose="020B0604020202020204" pitchFamily="34" charset="0"/>
              </a:rPr>
              <a:t>errors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Delays in reporting and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5">
            <a:extLst>
              <a:ext uri="{FF2B5EF4-FFF2-40B4-BE49-F238E27FC236}">
                <a16:creationId xmlns:a16="http://schemas.microsoft.com/office/drawing/2014/main" id="{5FB8C59D-A3E3-A6C4-A6D7-BDB1F7EC1BF5}"/>
              </a:ext>
            </a:extLst>
          </p:cNvPr>
          <p:cNvSpPr>
            <a:spLocks noChangeArrowheads="1"/>
          </p:cNvSpPr>
          <p:nvPr/>
        </p:nvSpPr>
        <p:spPr bwMode="auto">
          <a:xfrm>
            <a:off x="1185441" y="3413125"/>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6">
            <a:extLst>
              <a:ext uri="{FF2B5EF4-FFF2-40B4-BE49-F238E27FC236}">
                <a16:creationId xmlns:a16="http://schemas.microsoft.com/office/drawing/2014/main" id="{164569BA-BEE2-62A3-F121-440A8BFF668C}"/>
              </a:ext>
            </a:extLst>
          </p:cNvPr>
          <p:cNvSpPr>
            <a:spLocks noChangeArrowheads="1"/>
          </p:cNvSpPr>
          <p:nvPr/>
        </p:nvSpPr>
        <p:spPr bwMode="auto">
          <a:xfrm>
            <a:off x="838200" y="3151515"/>
            <a:ext cx="1075963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 2. What Should XYZ Consider When Selecting ERP?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0816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853</Words>
  <Application>Microsoft Office PowerPoint</Application>
  <PresentationFormat>Widescreen</PresentationFormat>
  <Paragraphs>90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Enterprise System</vt:lpstr>
      <vt:lpstr>ERP Planning</vt:lpstr>
      <vt:lpstr>Cont…</vt:lpstr>
      <vt:lpstr>Cont…</vt:lpstr>
      <vt:lpstr>ERP Life Cycle</vt:lpstr>
      <vt:lpstr>Cont…</vt:lpstr>
      <vt:lpstr>Cont…</vt:lpstr>
      <vt:lpstr>ERP Vendors</vt:lpstr>
      <vt:lpstr>Case Study: Business Transformation Through ERP</vt:lpstr>
      <vt:lpstr>Case Study for Practice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System</dc:title>
  <dc:creator>user</dc:creator>
  <cp:lastModifiedBy>01-135212-083</cp:lastModifiedBy>
  <cp:revision>22</cp:revision>
  <dcterms:created xsi:type="dcterms:W3CDTF">2025-02-03T04:01:42Z</dcterms:created>
  <dcterms:modified xsi:type="dcterms:W3CDTF">2025-04-14T08:15:51Z</dcterms:modified>
</cp:coreProperties>
</file>