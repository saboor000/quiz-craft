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0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3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4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6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6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0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8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7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4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7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1E9CB-5E18-43F2-B5D5-574B7E86B041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8101C-D389-4D8A-B6D2-5D4352DE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2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94910"/>
          </a:xfrm>
        </p:spPr>
        <p:txBody>
          <a:bodyPr/>
          <a:lstStyle/>
          <a:p>
            <a:r>
              <a:rPr lang="en-US" dirty="0"/>
              <a:t>Enterprise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Instructor: Ms. </a:t>
            </a:r>
            <a:r>
              <a:rPr lang="en-US" dirty="0" err="1"/>
              <a:t>Ameena</a:t>
            </a:r>
            <a:r>
              <a:rPr lang="en-US" dirty="0"/>
              <a:t> Saeed</a:t>
            </a:r>
          </a:p>
          <a:p>
            <a:r>
              <a:rPr lang="en-US" dirty="0"/>
              <a:t>Lecture: Systems Integration</a:t>
            </a:r>
          </a:p>
        </p:txBody>
      </p:sp>
    </p:spTree>
    <p:extLst>
      <p:ext uri="{BB962C8B-B14F-4D97-AF65-F5344CB8AC3E}">
        <p14:creationId xmlns:p14="http://schemas.microsoft.com/office/powerpoint/2010/main" val="578886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System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System integration refers to the process of connecting different </a:t>
            </a:r>
            <a:r>
              <a:rPr lang="en-US" b="1" dirty="0"/>
              <a:t>IT systems, software applications, and databases</a:t>
            </a:r>
            <a:r>
              <a:rPr lang="en-US" dirty="0"/>
              <a:t> within an organization to function as a unified system. </a:t>
            </a:r>
          </a:p>
          <a:p>
            <a:pPr marL="0" indent="0">
              <a:buNone/>
            </a:pPr>
            <a:r>
              <a:rPr lang="en-US" dirty="0"/>
              <a:t>The goal is to ensure seamless communication, data consistency, and improved efficiency across departments.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00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retail company uses </a:t>
            </a:r>
            <a:r>
              <a:rPr lang="en-US" b="1" dirty="0"/>
              <a:t>SAP ERP for inventory management</a:t>
            </a:r>
            <a:r>
              <a:rPr lang="en-US" dirty="0"/>
              <a:t>, </a:t>
            </a:r>
            <a:r>
              <a:rPr lang="en-US" b="1" dirty="0"/>
              <a:t>Salesforce CRM for customer management</a:t>
            </a:r>
            <a:r>
              <a:rPr lang="en-US" dirty="0"/>
              <a:t>, and </a:t>
            </a:r>
            <a:r>
              <a:rPr lang="en-US" b="1" dirty="0"/>
              <a:t>Shopify for e-commerce transactions</a:t>
            </a:r>
            <a:r>
              <a:rPr lang="en-US" dirty="0"/>
              <a:t>. Integrating these systems allows data to flow between them, ensuring accurate stock updates and synchronized customer records.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44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3453"/>
            <a:ext cx="10515600" cy="798656"/>
          </a:xfrm>
        </p:spPr>
        <p:txBody>
          <a:bodyPr/>
          <a:lstStyle/>
          <a:p>
            <a:r>
              <a:rPr lang="en-US" dirty="0"/>
              <a:t>Example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2924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Departments in a Retail Company: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Inventory &amp; Supply Chain Department</a:t>
            </a:r>
            <a:endParaRPr lang="en-US" dirty="0"/>
          </a:p>
          <a:p>
            <a:r>
              <a:rPr lang="en-US" dirty="0"/>
              <a:t>Manages stock levels, orders new products, tracks deliveries.</a:t>
            </a:r>
          </a:p>
          <a:p>
            <a:r>
              <a:rPr lang="en-US" dirty="0"/>
              <a:t>Uses </a:t>
            </a:r>
            <a:r>
              <a:rPr lang="en-US" b="1" dirty="0"/>
              <a:t>ERP (like SAP)</a:t>
            </a:r>
            <a:r>
              <a:rPr lang="en-US" dirty="0"/>
              <a:t> to automate stock management.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Sales &amp; Customer Relationship Department</a:t>
            </a:r>
            <a:endParaRPr lang="en-US" dirty="0"/>
          </a:p>
          <a:p>
            <a:r>
              <a:rPr lang="en-US" dirty="0"/>
              <a:t>Manages customer interactions, orders, and feedback.</a:t>
            </a:r>
          </a:p>
          <a:p>
            <a:r>
              <a:rPr lang="en-US" dirty="0"/>
              <a:t>Uses </a:t>
            </a:r>
            <a:r>
              <a:rPr lang="en-US" b="1" dirty="0"/>
              <a:t>CRM (like Salesforce)</a:t>
            </a:r>
            <a:r>
              <a:rPr lang="en-US" dirty="0"/>
              <a:t> to track customer purchases and preferences.</a:t>
            </a:r>
          </a:p>
          <a:p>
            <a:pPr marL="0" indent="0">
              <a:buNone/>
            </a:pPr>
            <a:r>
              <a:rPr lang="en-US" b="1" dirty="0"/>
              <a:t>3. E-commerce &amp; Online Sales Department</a:t>
            </a:r>
            <a:endParaRPr lang="en-US" dirty="0"/>
          </a:p>
          <a:p>
            <a:r>
              <a:rPr lang="en-US" dirty="0"/>
              <a:t>Manages the online store, customer orders, and digital payments.</a:t>
            </a:r>
          </a:p>
          <a:p>
            <a:r>
              <a:rPr lang="en-US" dirty="0"/>
              <a:t>Uses </a:t>
            </a:r>
            <a:r>
              <a:rPr lang="en-US" b="1" dirty="0"/>
              <a:t>E-commerce platforms (like Shopify)</a:t>
            </a:r>
            <a:r>
              <a:rPr lang="en-US" dirty="0"/>
              <a:t> to handle online transactions.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39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4290"/>
            <a:ext cx="10515600" cy="840220"/>
          </a:xfrm>
        </p:spPr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8473"/>
            <a:ext cx="10515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Do These Departments Need Integration?</a:t>
            </a:r>
          </a:p>
          <a:p>
            <a:pPr marL="0" indent="0">
              <a:buNone/>
            </a:pPr>
            <a:r>
              <a:rPr lang="en-US" dirty="0"/>
              <a:t>Each department </a:t>
            </a:r>
            <a:r>
              <a:rPr lang="en-US" b="1" dirty="0"/>
              <a:t>uses its own software</a:t>
            </a:r>
            <a:r>
              <a:rPr lang="en-US" dirty="0"/>
              <a:t>, but they must communicate to keep data consistent: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a </a:t>
            </a:r>
            <a:r>
              <a:rPr lang="en-US" b="1" dirty="0"/>
              <a:t>customer buys a product online (Shopify)</a:t>
            </a:r>
            <a:r>
              <a:rPr lang="en-US" dirty="0"/>
              <a:t> → </a:t>
            </a:r>
            <a:r>
              <a:rPr lang="en-US" b="1" dirty="0"/>
              <a:t>Inventory (SAP ERP)</a:t>
            </a:r>
            <a:r>
              <a:rPr lang="en-US" dirty="0"/>
              <a:t> should update stock.</a:t>
            </a:r>
          </a:p>
          <a:p>
            <a:r>
              <a:rPr lang="en-US" dirty="0"/>
              <a:t>When a </a:t>
            </a:r>
            <a:r>
              <a:rPr lang="en-US" b="1" dirty="0"/>
              <a:t>customer orders frequently</a:t>
            </a:r>
            <a:r>
              <a:rPr lang="en-US" dirty="0"/>
              <a:t> → </a:t>
            </a:r>
            <a:r>
              <a:rPr lang="en-US" b="1" dirty="0"/>
              <a:t>CRM (Salesforce)</a:t>
            </a:r>
            <a:r>
              <a:rPr lang="en-US" dirty="0"/>
              <a:t> should record buying patterns for marketing.</a:t>
            </a:r>
          </a:p>
          <a:p>
            <a:r>
              <a:rPr lang="en-US" dirty="0"/>
              <a:t>When a </a:t>
            </a:r>
            <a:r>
              <a:rPr lang="en-US" b="1" dirty="0"/>
              <a:t>new sale happens</a:t>
            </a:r>
            <a:r>
              <a:rPr lang="en-US" dirty="0"/>
              <a:t> → </a:t>
            </a:r>
            <a:r>
              <a:rPr lang="en-US" b="1" dirty="0"/>
              <a:t>Finance needs the data</a:t>
            </a:r>
            <a:r>
              <a:rPr lang="en-US" dirty="0"/>
              <a:t> for revenue tracking.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5643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34"/>
            <a:ext cx="10515600" cy="909493"/>
          </a:xfrm>
        </p:spPr>
        <p:txBody>
          <a:bodyPr/>
          <a:lstStyle/>
          <a:p>
            <a:r>
              <a:rPr lang="en-US" b="1" dirty="0"/>
              <a:t>Logical vs. Physical System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2327"/>
            <a:ext cx="10515600" cy="51677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System integration can be classified into two major types: </a:t>
            </a:r>
            <a:r>
              <a:rPr lang="en-US" b="1" dirty="0"/>
              <a:t>Logical Integration</a:t>
            </a:r>
            <a:r>
              <a:rPr lang="en-US" dirty="0"/>
              <a:t> and </a:t>
            </a:r>
            <a:r>
              <a:rPr lang="en-US" b="1" dirty="0"/>
              <a:t>Physical Integration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Logical Integration</a:t>
            </a:r>
          </a:p>
          <a:p>
            <a:r>
              <a:rPr lang="en-US" dirty="0"/>
              <a:t>Logical integration connects different systems through </a:t>
            </a:r>
            <a:r>
              <a:rPr lang="en-US" b="1" dirty="0"/>
              <a:t>software-based solutions</a:t>
            </a:r>
            <a:r>
              <a:rPr lang="en-US" dirty="0"/>
              <a:t>, without altering or combining the underlying physical hardware.</a:t>
            </a:r>
          </a:p>
          <a:p>
            <a:pPr marL="0" indent="0">
              <a:buNone/>
            </a:pPr>
            <a:r>
              <a:rPr lang="en-US" b="1" dirty="0"/>
              <a:t>Characteristics:</a:t>
            </a:r>
          </a:p>
          <a:p>
            <a:r>
              <a:rPr lang="en-US" dirty="0"/>
              <a:t>Data remains stored in its original system.</a:t>
            </a:r>
          </a:p>
          <a:p>
            <a:r>
              <a:rPr lang="en-US" dirty="0"/>
              <a:t>Systems communicate via </a:t>
            </a:r>
            <a:r>
              <a:rPr lang="en-US" b="1" dirty="0"/>
              <a:t>APIs (Application Programming Interfaces), middleware, or cloud services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74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089601"/>
          </a:xfrm>
        </p:spPr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9527"/>
            <a:ext cx="10515600" cy="4417436"/>
          </a:xfrm>
        </p:spPr>
        <p:txBody>
          <a:bodyPr/>
          <a:lstStyle/>
          <a:p>
            <a:r>
              <a:rPr lang="en-US" dirty="0"/>
              <a:t>No physical system replacement is needed.</a:t>
            </a:r>
          </a:p>
          <a:p>
            <a:r>
              <a:rPr lang="en-US" dirty="0"/>
              <a:t>Easier and cost-effective for large, distributed environments.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hospital</a:t>
            </a:r>
            <a:r>
              <a:rPr lang="en-US" dirty="0"/>
              <a:t> connects its </a:t>
            </a:r>
            <a:r>
              <a:rPr lang="en-US" b="1" dirty="0"/>
              <a:t>patient records system</a:t>
            </a:r>
            <a:r>
              <a:rPr lang="en-US" dirty="0"/>
              <a:t> to its </a:t>
            </a:r>
            <a:r>
              <a:rPr lang="en-US" b="1" dirty="0"/>
              <a:t>billing system</a:t>
            </a:r>
            <a:r>
              <a:rPr lang="en-US" dirty="0"/>
              <a:t> using APIs for real-time updates.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7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930"/>
          </a:xfrm>
        </p:spPr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Physical Integration</a:t>
            </a:r>
          </a:p>
          <a:p>
            <a:r>
              <a:rPr lang="en-US" dirty="0"/>
              <a:t>Physical integration connects systems through </a:t>
            </a:r>
            <a:r>
              <a:rPr lang="en-US" b="1" dirty="0"/>
              <a:t>hardware-based or networking solutions</a:t>
            </a:r>
            <a:r>
              <a:rPr lang="en-US" dirty="0"/>
              <a:t>, often requiring changes to infrastructure.</a:t>
            </a:r>
          </a:p>
          <a:p>
            <a:pPr marL="0" indent="0">
              <a:buNone/>
            </a:pPr>
            <a:r>
              <a:rPr lang="en-US" b="1" dirty="0"/>
              <a:t>Characteristics:</a:t>
            </a:r>
          </a:p>
          <a:p>
            <a:r>
              <a:rPr lang="en-US" dirty="0"/>
              <a:t>Data is transferred physically between systems.</a:t>
            </a:r>
          </a:p>
          <a:p>
            <a:r>
              <a:rPr lang="en-US" dirty="0"/>
              <a:t>Requires significant infrastructure changes.</a:t>
            </a:r>
          </a:p>
          <a:p>
            <a:r>
              <a:rPr lang="en-US" dirty="0"/>
              <a:t>Often involves networking hardware, servers, and dedicated data pipelines.</a:t>
            </a:r>
          </a:p>
          <a:p>
            <a:r>
              <a:rPr lang="en-US" dirty="0"/>
              <a:t>More complex but provides a stronger and more reliable integration.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27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A </a:t>
            </a:r>
            <a:r>
              <a:rPr lang="en-US" b="1" dirty="0"/>
              <a:t>car factory</a:t>
            </a:r>
            <a:r>
              <a:rPr lang="en-US" dirty="0"/>
              <a:t> connects its </a:t>
            </a:r>
            <a:r>
              <a:rPr lang="en-US" b="1" dirty="0"/>
              <a:t>ERP system</a:t>
            </a:r>
            <a:r>
              <a:rPr lang="en-US" dirty="0"/>
              <a:t> with </a:t>
            </a:r>
            <a:r>
              <a:rPr lang="en-US" b="1" dirty="0"/>
              <a:t>machines</a:t>
            </a:r>
            <a:r>
              <a:rPr lang="en-US" dirty="0"/>
              <a:t> using </a:t>
            </a:r>
            <a:r>
              <a:rPr lang="en-US" b="1" dirty="0"/>
              <a:t>IoT devices</a:t>
            </a:r>
            <a:r>
              <a:rPr lang="en-US" dirty="0"/>
              <a:t> to monitor production in real-time.</a:t>
            </a:r>
          </a:p>
        </p:txBody>
      </p:sp>
    </p:spTree>
    <p:extLst>
      <p:ext uri="{BB962C8B-B14F-4D97-AF65-F5344CB8AC3E}">
        <p14:creationId xmlns:p14="http://schemas.microsoft.com/office/powerpoint/2010/main" val="40194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220"/>
          </a:xfrm>
        </p:spPr>
        <p:txBody>
          <a:bodyPr/>
          <a:lstStyle/>
          <a:p>
            <a:r>
              <a:rPr lang="en-US" b="1" dirty="0"/>
              <a:t>Steps in Integrating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5043054"/>
          </a:xfrm>
        </p:spPr>
        <p:txBody>
          <a:bodyPr/>
          <a:lstStyle/>
          <a:p>
            <a:r>
              <a:rPr lang="en-US" dirty="0"/>
              <a:t>Successful system integration follows a structured approach to ensure seamless functionality and avoid errors.</a:t>
            </a:r>
          </a:p>
          <a:p>
            <a:pPr marL="0" indent="0">
              <a:buNone/>
            </a:pPr>
            <a:r>
              <a:rPr lang="en-US" b="1" dirty="0"/>
              <a:t> Process:</a:t>
            </a:r>
          </a:p>
          <a:p>
            <a:r>
              <a:rPr lang="en-US" b="1" dirty="0"/>
              <a:t>Define Integration Goals:</a:t>
            </a:r>
            <a:endParaRPr lang="en-US" dirty="0"/>
          </a:p>
          <a:p>
            <a:pPr lvl="1"/>
            <a:r>
              <a:rPr lang="en-US" dirty="0"/>
              <a:t>Identify the business objectives for integration.</a:t>
            </a:r>
          </a:p>
          <a:p>
            <a:pPr lvl="1"/>
            <a:r>
              <a:rPr lang="en-US" dirty="0"/>
              <a:t>Example: A logistics company wants real-time shipment tracking integration.</a:t>
            </a:r>
          </a:p>
          <a:p>
            <a:r>
              <a:rPr lang="en-US" b="1" dirty="0"/>
              <a:t>Assess Current Systems:</a:t>
            </a:r>
            <a:endParaRPr lang="en-US" dirty="0"/>
          </a:p>
          <a:p>
            <a:pPr lvl="1"/>
            <a:r>
              <a:rPr lang="en-US" dirty="0"/>
              <a:t>Evaluate existing IT infrastructure for compatibility.</a:t>
            </a:r>
          </a:p>
          <a:p>
            <a:pPr lvl="1"/>
            <a:r>
              <a:rPr lang="en-US" dirty="0"/>
              <a:t>Example: Ensuring an old HR system can connect with a modern payroll system.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677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2436"/>
            <a:ext cx="10515600" cy="4694527"/>
          </a:xfrm>
        </p:spPr>
        <p:txBody>
          <a:bodyPr/>
          <a:lstStyle/>
          <a:p>
            <a:r>
              <a:rPr lang="en-US" b="1" dirty="0"/>
              <a:t>Select Integration Methods:</a:t>
            </a:r>
            <a:endParaRPr lang="en-US" dirty="0"/>
          </a:p>
          <a:p>
            <a:pPr lvl="1"/>
            <a:r>
              <a:rPr lang="en-US" dirty="0"/>
              <a:t>Choose between </a:t>
            </a:r>
            <a:r>
              <a:rPr lang="en-US" b="1" dirty="0"/>
              <a:t>logical (APIs, middleware)</a:t>
            </a:r>
            <a:r>
              <a:rPr lang="en-US" dirty="0"/>
              <a:t> or </a:t>
            </a:r>
            <a:r>
              <a:rPr lang="en-US" b="1" dirty="0"/>
              <a:t>physical (hardware connections, networking)</a:t>
            </a:r>
            <a:r>
              <a:rPr lang="en-US" dirty="0"/>
              <a:t> integration.</a:t>
            </a:r>
          </a:p>
          <a:p>
            <a:r>
              <a:rPr lang="en-US" b="1" dirty="0"/>
              <a:t>Develop an Integration Strategy:</a:t>
            </a:r>
            <a:endParaRPr lang="en-US" dirty="0"/>
          </a:p>
          <a:p>
            <a:pPr lvl="1"/>
            <a:r>
              <a:rPr lang="en-US" dirty="0"/>
              <a:t>Plan data flow, security protocols, and system dependencies.</a:t>
            </a:r>
          </a:p>
          <a:p>
            <a:pPr lvl="1"/>
            <a:r>
              <a:rPr lang="en-US" dirty="0"/>
              <a:t>Example: Ensuring customer data privacy when integrating CRM with marketing tools.</a:t>
            </a:r>
          </a:p>
          <a:p>
            <a:r>
              <a:rPr lang="en-US" b="1" dirty="0"/>
              <a:t>Implement the Integration:</a:t>
            </a:r>
            <a:endParaRPr lang="en-US" dirty="0"/>
          </a:p>
          <a:p>
            <a:pPr lvl="1"/>
            <a:r>
              <a:rPr lang="en-US" dirty="0"/>
              <a:t>Develop or deploy middleware solutions, APIs, or physical connections.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15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Test &amp; Validate:</a:t>
            </a:r>
            <a:endParaRPr lang="en-US" dirty="0"/>
          </a:p>
          <a:p>
            <a:pPr lvl="1"/>
            <a:r>
              <a:rPr lang="en-US" dirty="0"/>
              <a:t>Conduct integration testing to ensure seamless data flow and functionality.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Monitor &amp; Maintain:</a:t>
            </a:r>
            <a:endParaRPr lang="en-US" dirty="0"/>
          </a:p>
          <a:p>
            <a:pPr lvl="1"/>
            <a:r>
              <a:rPr lang="en-US" dirty="0"/>
              <a:t>Continuously track performance and resolve any integration issues.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37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Real-World Examples of ERP System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34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Logical Integration Example:</a:t>
            </a:r>
          </a:p>
          <a:p>
            <a:r>
              <a:rPr lang="en-US" dirty="0"/>
              <a:t>A global e-commerce company integrates its Salesforce CRM with SAP ERP, ensuring customer data flows seamlessly between departments without requiring system changes.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Physical Integration Example:</a:t>
            </a:r>
          </a:p>
          <a:p>
            <a:r>
              <a:rPr lang="en-US" dirty="0"/>
              <a:t>An automobile manufacturer connects its ERP system to production machines via </a:t>
            </a:r>
            <a:r>
              <a:rPr lang="en-US" dirty="0" err="1"/>
              <a:t>IoT</a:t>
            </a:r>
            <a:r>
              <a:rPr lang="en-US" dirty="0"/>
              <a:t> sensors to track and optimize factory performance.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7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687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Enterprise System</vt:lpstr>
      <vt:lpstr>Introduction to System Integration</vt:lpstr>
      <vt:lpstr>Example</vt:lpstr>
      <vt:lpstr>Example explained</vt:lpstr>
      <vt:lpstr>Cont…</vt:lpstr>
      <vt:lpstr>Logical vs. Physical System Integration</vt:lpstr>
      <vt:lpstr>Cont…</vt:lpstr>
      <vt:lpstr>Cont…</vt:lpstr>
      <vt:lpstr>Cont…</vt:lpstr>
      <vt:lpstr>Steps in Integrating Systems</vt:lpstr>
      <vt:lpstr>Cont…</vt:lpstr>
      <vt:lpstr>Cont…</vt:lpstr>
      <vt:lpstr>Real-World Examples of ERP System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System</dc:title>
  <dc:creator>care</dc:creator>
  <cp:lastModifiedBy>01-135212-083</cp:lastModifiedBy>
  <cp:revision>21</cp:revision>
  <dcterms:created xsi:type="dcterms:W3CDTF">2025-02-09T16:48:38Z</dcterms:created>
  <dcterms:modified xsi:type="dcterms:W3CDTF">2025-04-13T15:10:46Z</dcterms:modified>
</cp:coreProperties>
</file>