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67CE8D0-DC79-4082-83CA-EE9EB2E1214A}" type="datetimeFigureOut">
              <a:rPr lang="en-US" smtClean="0"/>
              <a:t>24-Feb-25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FC3826-E19F-482B-B778-97A7F14673CA}" type="slidenum">
              <a:rPr lang="en-US" smtClean="0"/>
              <a:t>‹#›</a:t>
            </a:fld>
            <a:endParaRPr lang="en-US"/>
          </a:p>
        </p:txBody>
      </p:sp>
    </p:spTree>
    <p:extLst>
      <p:ext uri="{BB962C8B-B14F-4D97-AF65-F5344CB8AC3E}">
        <p14:creationId xmlns:p14="http://schemas.microsoft.com/office/powerpoint/2010/main" val="2432449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67CE8D0-DC79-4082-83CA-EE9EB2E1214A}" type="datetimeFigureOut">
              <a:rPr lang="en-US" smtClean="0"/>
              <a:t>24-Feb-25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FC3826-E19F-482B-B778-97A7F14673CA}" type="slidenum">
              <a:rPr lang="en-US" smtClean="0"/>
              <a:t>‹#›</a:t>
            </a:fld>
            <a:endParaRPr lang="en-US"/>
          </a:p>
        </p:txBody>
      </p:sp>
    </p:spTree>
    <p:extLst>
      <p:ext uri="{BB962C8B-B14F-4D97-AF65-F5344CB8AC3E}">
        <p14:creationId xmlns:p14="http://schemas.microsoft.com/office/powerpoint/2010/main" val="346000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67CE8D0-DC79-4082-83CA-EE9EB2E1214A}" type="datetimeFigureOut">
              <a:rPr lang="en-US" smtClean="0"/>
              <a:t>24-Feb-25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FC3826-E19F-482B-B778-97A7F14673CA}" type="slidenum">
              <a:rPr lang="en-US" smtClean="0"/>
              <a:t>‹#›</a:t>
            </a:fld>
            <a:endParaRPr lang="en-US"/>
          </a:p>
        </p:txBody>
      </p:sp>
    </p:spTree>
    <p:extLst>
      <p:ext uri="{BB962C8B-B14F-4D97-AF65-F5344CB8AC3E}">
        <p14:creationId xmlns:p14="http://schemas.microsoft.com/office/powerpoint/2010/main" val="1232759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67CE8D0-DC79-4082-83CA-EE9EB2E1214A}" type="datetimeFigureOut">
              <a:rPr lang="en-US" smtClean="0"/>
              <a:t>24-Feb-25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FC3826-E19F-482B-B778-97A7F14673CA}" type="slidenum">
              <a:rPr lang="en-US" smtClean="0"/>
              <a:t>‹#›</a:t>
            </a:fld>
            <a:endParaRPr lang="en-US"/>
          </a:p>
        </p:txBody>
      </p:sp>
    </p:spTree>
    <p:extLst>
      <p:ext uri="{BB962C8B-B14F-4D97-AF65-F5344CB8AC3E}">
        <p14:creationId xmlns:p14="http://schemas.microsoft.com/office/powerpoint/2010/main" val="1069023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67CE8D0-DC79-4082-83CA-EE9EB2E1214A}" type="datetimeFigureOut">
              <a:rPr lang="en-US" smtClean="0"/>
              <a:t>24-Feb-25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FC3826-E19F-482B-B778-97A7F14673CA}" type="slidenum">
              <a:rPr lang="en-US" smtClean="0"/>
              <a:t>‹#›</a:t>
            </a:fld>
            <a:endParaRPr lang="en-US"/>
          </a:p>
        </p:txBody>
      </p:sp>
    </p:spTree>
    <p:extLst>
      <p:ext uri="{BB962C8B-B14F-4D97-AF65-F5344CB8AC3E}">
        <p14:creationId xmlns:p14="http://schemas.microsoft.com/office/powerpoint/2010/main" val="1346073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67CE8D0-DC79-4082-83CA-EE9EB2E1214A}" type="datetimeFigureOut">
              <a:rPr lang="en-US" smtClean="0"/>
              <a:t>24-Feb-25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FC3826-E19F-482B-B778-97A7F14673CA}" type="slidenum">
              <a:rPr lang="en-US" smtClean="0"/>
              <a:t>‹#›</a:t>
            </a:fld>
            <a:endParaRPr lang="en-US"/>
          </a:p>
        </p:txBody>
      </p:sp>
    </p:spTree>
    <p:extLst>
      <p:ext uri="{BB962C8B-B14F-4D97-AF65-F5344CB8AC3E}">
        <p14:creationId xmlns:p14="http://schemas.microsoft.com/office/powerpoint/2010/main" val="2565714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7CE8D0-DC79-4082-83CA-EE9EB2E1214A}" type="datetimeFigureOut">
              <a:rPr lang="en-US" smtClean="0"/>
              <a:t>24-Feb-25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6FC3826-E19F-482B-B778-97A7F14673CA}" type="slidenum">
              <a:rPr lang="en-US" smtClean="0"/>
              <a:t>‹#›</a:t>
            </a:fld>
            <a:endParaRPr lang="en-US"/>
          </a:p>
        </p:txBody>
      </p:sp>
    </p:spTree>
    <p:extLst>
      <p:ext uri="{BB962C8B-B14F-4D97-AF65-F5344CB8AC3E}">
        <p14:creationId xmlns:p14="http://schemas.microsoft.com/office/powerpoint/2010/main" val="3914060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67CE8D0-DC79-4082-83CA-EE9EB2E1214A}" type="datetimeFigureOut">
              <a:rPr lang="en-US" smtClean="0"/>
              <a:t>24-Feb-25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FC3826-E19F-482B-B778-97A7F14673CA}" type="slidenum">
              <a:rPr lang="en-US" smtClean="0"/>
              <a:t>‹#›</a:t>
            </a:fld>
            <a:endParaRPr lang="en-US"/>
          </a:p>
        </p:txBody>
      </p:sp>
    </p:spTree>
    <p:extLst>
      <p:ext uri="{BB962C8B-B14F-4D97-AF65-F5344CB8AC3E}">
        <p14:creationId xmlns:p14="http://schemas.microsoft.com/office/powerpoint/2010/main" val="303913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67CE8D0-DC79-4082-83CA-EE9EB2E1214A}" type="datetimeFigureOut">
              <a:rPr lang="en-US" smtClean="0"/>
              <a:t>24-Feb-25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FC3826-E19F-482B-B778-97A7F14673CA}" type="slidenum">
              <a:rPr lang="en-US" smtClean="0"/>
              <a:t>‹#›</a:t>
            </a:fld>
            <a:endParaRPr lang="en-US"/>
          </a:p>
        </p:txBody>
      </p:sp>
    </p:spTree>
    <p:extLst>
      <p:ext uri="{BB962C8B-B14F-4D97-AF65-F5344CB8AC3E}">
        <p14:creationId xmlns:p14="http://schemas.microsoft.com/office/powerpoint/2010/main" val="188272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67CE8D0-DC79-4082-83CA-EE9EB2E1214A}" type="datetimeFigureOut">
              <a:rPr lang="en-US" smtClean="0"/>
              <a:t>24-Feb-25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FC3826-E19F-482B-B778-97A7F14673CA}" type="slidenum">
              <a:rPr lang="en-US" smtClean="0"/>
              <a:t>‹#›</a:t>
            </a:fld>
            <a:endParaRPr lang="en-US"/>
          </a:p>
        </p:txBody>
      </p:sp>
    </p:spTree>
    <p:extLst>
      <p:ext uri="{BB962C8B-B14F-4D97-AF65-F5344CB8AC3E}">
        <p14:creationId xmlns:p14="http://schemas.microsoft.com/office/powerpoint/2010/main" val="862228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67CE8D0-DC79-4082-83CA-EE9EB2E1214A}" type="datetimeFigureOut">
              <a:rPr lang="en-US" smtClean="0"/>
              <a:t>24-Feb-25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FC3826-E19F-482B-B778-97A7F14673CA}" type="slidenum">
              <a:rPr lang="en-US" smtClean="0"/>
              <a:t>‹#›</a:t>
            </a:fld>
            <a:endParaRPr lang="en-US"/>
          </a:p>
        </p:txBody>
      </p:sp>
    </p:spTree>
    <p:extLst>
      <p:ext uri="{BB962C8B-B14F-4D97-AF65-F5344CB8AC3E}">
        <p14:creationId xmlns:p14="http://schemas.microsoft.com/office/powerpoint/2010/main" val="2970000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7CE8D0-DC79-4082-83CA-EE9EB2E1214A}" type="datetimeFigureOut">
              <a:rPr lang="en-US" smtClean="0"/>
              <a:t>24-Feb-25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FC3826-E19F-482B-B778-97A7F14673CA}" type="slidenum">
              <a:rPr lang="en-US" smtClean="0"/>
              <a:t>‹#›</a:t>
            </a:fld>
            <a:endParaRPr lang="en-US"/>
          </a:p>
        </p:txBody>
      </p:sp>
    </p:spTree>
    <p:extLst>
      <p:ext uri="{BB962C8B-B14F-4D97-AF65-F5344CB8AC3E}">
        <p14:creationId xmlns:p14="http://schemas.microsoft.com/office/powerpoint/2010/main" val="8998307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09745"/>
            <a:ext cx="9144000" cy="2387600"/>
          </a:xfrm>
        </p:spPr>
        <p:txBody>
          <a:bodyPr/>
          <a:lstStyle/>
          <a:p>
            <a:r>
              <a:rPr lang="en-US" dirty="0" smtClean="0"/>
              <a:t>Enterprise System</a:t>
            </a:r>
            <a:endParaRPr lang="en-US" dirty="0"/>
          </a:p>
        </p:txBody>
      </p:sp>
      <p:sp>
        <p:nvSpPr>
          <p:cNvPr id="3" name="Subtitle 2"/>
          <p:cNvSpPr>
            <a:spLocks noGrp="1"/>
          </p:cNvSpPr>
          <p:nvPr>
            <p:ph type="subTitle" idx="1"/>
          </p:nvPr>
        </p:nvSpPr>
        <p:spPr/>
        <p:txBody>
          <a:bodyPr>
            <a:normAutofit/>
          </a:bodyPr>
          <a:lstStyle/>
          <a:p>
            <a:r>
              <a:rPr lang="en-US" dirty="0" smtClean="0"/>
              <a:t>Course Instructor: Ms. </a:t>
            </a:r>
            <a:r>
              <a:rPr lang="en-US" dirty="0" err="1" smtClean="0"/>
              <a:t>Ameena</a:t>
            </a:r>
            <a:r>
              <a:rPr lang="en-US" dirty="0" smtClean="0"/>
              <a:t> Saeed</a:t>
            </a:r>
          </a:p>
          <a:p>
            <a:r>
              <a:rPr lang="en-US" dirty="0" smtClean="0"/>
              <a:t>ERP Implementation Life Cycle</a:t>
            </a:r>
          </a:p>
          <a:p>
            <a:r>
              <a:rPr lang="en-US" dirty="0" smtClean="0"/>
              <a:t>ERP Implementation Plan and </a:t>
            </a:r>
            <a:r>
              <a:rPr lang="en-US" dirty="0" err="1" smtClean="0"/>
              <a:t>Methodolgy</a:t>
            </a:r>
            <a:endParaRPr lang="en-US" dirty="0"/>
          </a:p>
        </p:txBody>
      </p:sp>
    </p:spTree>
    <p:extLst>
      <p:ext uri="{BB962C8B-B14F-4D97-AF65-F5344CB8AC3E}">
        <p14:creationId xmlns:p14="http://schemas.microsoft.com/office/powerpoint/2010/main" val="2433130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ERP Development Life Cycle</a:t>
            </a:r>
            <a:endParaRPr lang="en-US" dirty="0"/>
          </a:p>
        </p:txBody>
      </p:sp>
      <p:sp>
        <p:nvSpPr>
          <p:cNvPr id="3" name="Content Placeholder 2"/>
          <p:cNvSpPr>
            <a:spLocks noGrp="1"/>
          </p:cNvSpPr>
          <p:nvPr>
            <p:ph idx="1"/>
          </p:nvPr>
        </p:nvSpPr>
        <p:spPr/>
        <p:txBody>
          <a:bodyPr/>
          <a:lstStyle/>
          <a:p>
            <a:pPr marL="0" indent="0">
              <a:buNone/>
            </a:pPr>
            <a:r>
              <a:rPr lang="en-US" dirty="0" smtClean="0"/>
              <a:t>Enterprise Resource Planning (ERP) implementation is a complex process that involves integrating various business functions into a single system. A well-structured implementation reduces risks, improves efficiency, and ensures smooth operations across an organization.</a:t>
            </a:r>
          </a:p>
          <a:p>
            <a:pPr marL="0" indent="0">
              <a:buNone/>
            </a:pPr>
            <a:endParaRPr lang="en-US" dirty="0"/>
          </a:p>
        </p:txBody>
      </p:sp>
    </p:spTree>
    <p:extLst>
      <p:ext uri="{BB962C8B-B14F-4D97-AF65-F5344CB8AC3E}">
        <p14:creationId xmlns:p14="http://schemas.microsoft.com/office/powerpoint/2010/main" val="311146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ERP Implementation Life Cycle</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smtClean="0"/>
              <a:t>The ERP Implementation Life Cycle consists of sequential phases that guide organizations from planning to full deployment.</a:t>
            </a:r>
          </a:p>
          <a:p>
            <a:pPr marL="0" indent="0">
              <a:buNone/>
            </a:pPr>
            <a:r>
              <a:rPr lang="en-US" b="1" dirty="0" smtClean="0"/>
              <a:t>Phases of ERP Implementation:</a:t>
            </a:r>
          </a:p>
          <a:p>
            <a:r>
              <a:rPr lang="en-US" b="1" dirty="0" smtClean="0"/>
              <a:t>Planning</a:t>
            </a:r>
            <a:r>
              <a:rPr lang="en-US" dirty="0" smtClean="0"/>
              <a:t> – Define objectives, scope, and team roles.</a:t>
            </a:r>
          </a:p>
          <a:p>
            <a:r>
              <a:rPr lang="en-US" b="1" dirty="0" smtClean="0"/>
              <a:t>Design</a:t>
            </a:r>
            <a:r>
              <a:rPr lang="en-US" dirty="0" smtClean="0"/>
              <a:t> – Customize ERP to fit business needs.</a:t>
            </a:r>
          </a:p>
          <a:p>
            <a:r>
              <a:rPr lang="en-US" b="1" dirty="0" smtClean="0"/>
              <a:t>Development</a:t>
            </a:r>
            <a:r>
              <a:rPr lang="en-US" dirty="0" smtClean="0"/>
              <a:t> – Configure system components.</a:t>
            </a:r>
          </a:p>
          <a:p>
            <a:r>
              <a:rPr lang="en-US" b="1" dirty="0" smtClean="0"/>
              <a:t>Testing</a:t>
            </a:r>
            <a:r>
              <a:rPr lang="en-US" dirty="0" smtClean="0"/>
              <a:t> – Validate functionality and fix errors.</a:t>
            </a:r>
          </a:p>
          <a:p>
            <a:r>
              <a:rPr lang="en-US" b="1" dirty="0" smtClean="0"/>
              <a:t>Deployment</a:t>
            </a:r>
            <a:r>
              <a:rPr lang="en-US" dirty="0" smtClean="0"/>
              <a:t> – Go live with the ERP system.</a:t>
            </a:r>
          </a:p>
          <a:p>
            <a:r>
              <a:rPr lang="en-US" b="1" dirty="0" smtClean="0"/>
              <a:t>Maintenance &amp; Support</a:t>
            </a:r>
            <a:r>
              <a:rPr lang="en-US" dirty="0" smtClean="0"/>
              <a:t> – Continuous improvements and updates.</a:t>
            </a:r>
          </a:p>
          <a:p>
            <a:pPr marL="0" indent="0">
              <a:buNone/>
            </a:pPr>
            <a:endParaRPr lang="en-US" dirty="0"/>
          </a:p>
        </p:txBody>
      </p:sp>
    </p:spTree>
    <p:extLst>
      <p:ext uri="{BB962C8B-B14F-4D97-AF65-F5344CB8AC3E}">
        <p14:creationId xmlns:p14="http://schemas.microsoft.com/office/powerpoint/2010/main" val="657830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a:t>
            </a:r>
            <a:endParaRPr lang="en-US" dirty="0"/>
          </a:p>
        </p:txBody>
      </p:sp>
      <p:sp>
        <p:nvSpPr>
          <p:cNvPr id="3" name="Content Placeholder 2"/>
          <p:cNvSpPr>
            <a:spLocks noGrp="1"/>
          </p:cNvSpPr>
          <p:nvPr>
            <p:ph idx="1"/>
          </p:nvPr>
        </p:nvSpPr>
        <p:spPr/>
        <p:txBody>
          <a:bodyPr/>
          <a:lstStyle/>
          <a:p>
            <a:pPr marL="0" indent="0">
              <a:buNone/>
            </a:pPr>
            <a:r>
              <a:rPr lang="en-US" dirty="0" smtClean="0"/>
              <a:t>A manufacturing company implementing SAP ERP follows a life cycle where they start by planning system requirements, then develop and test modules like inventory management and finance, ensuring smooth integration before deployment. For instance, during the testing phase, they simulate sales transactions to verify that inventory levels update correctly before going live.</a:t>
            </a:r>
            <a:endParaRPr lang="en-US" dirty="0"/>
          </a:p>
        </p:txBody>
      </p:sp>
    </p:spTree>
    <p:extLst>
      <p:ext uri="{BB962C8B-B14F-4D97-AF65-F5344CB8AC3E}">
        <p14:creationId xmlns:p14="http://schemas.microsoft.com/office/powerpoint/2010/main" val="1517214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4288"/>
            <a:ext cx="10515600" cy="1325563"/>
          </a:xfrm>
        </p:spPr>
        <p:txBody>
          <a:bodyPr/>
          <a:lstStyle/>
          <a:p>
            <a:r>
              <a:rPr lang="en-US" b="1" dirty="0" smtClean="0"/>
              <a:t>ERP Implementation Plan</a:t>
            </a:r>
            <a:endParaRPr lang="en-US" dirty="0"/>
          </a:p>
        </p:txBody>
      </p:sp>
      <p:sp>
        <p:nvSpPr>
          <p:cNvPr id="3" name="Content Placeholder 2"/>
          <p:cNvSpPr>
            <a:spLocks noGrp="1"/>
          </p:cNvSpPr>
          <p:nvPr>
            <p:ph idx="1"/>
          </p:nvPr>
        </p:nvSpPr>
        <p:spPr>
          <a:xfrm>
            <a:off x="838200" y="1687079"/>
            <a:ext cx="10411691" cy="4741429"/>
          </a:xfrm>
        </p:spPr>
        <p:txBody>
          <a:bodyPr>
            <a:normAutofit/>
          </a:bodyPr>
          <a:lstStyle/>
          <a:p>
            <a:pPr marL="0" indent="0">
              <a:buNone/>
            </a:pPr>
            <a:r>
              <a:rPr lang="en-US" dirty="0" smtClean="0"/>
              <a:t>An effective ERP implementation requires a </a:t>
            </a:r>
            <a:r>
              <a:rPr lang="en-US" b="1" dirty="0" smtClean="0"/>
              <a:t>well-structured plan</a:t>
            </a:r>
            <a:r>
              <a:rPr lang="en-US" dirty="0" smtClean="0"/>
              <a:t> that includes the following steps:</a:t>
            </a:r>
          </a:p>
          <a:p>
            <a:pPr marL="0" indent="0">
              <a:buNone/>
            </a:pPr>
            <a:r>
              <a:rPr lang="en-US" b="1" dirty="0" smtClean="0"/>
              <a:t>Assess Business Needs</a:t>
            </a:r>
            <a:r>
              <a:rPr lang="en-US" dirty="0" smtClean="0"/>
              <a:t>: Identify pain points and goals.</a:t>
            </a:r>
          </a:p>
          <a:p>
            <a:pPr marL="0" indent="0">
              <a:buNone/>
            </a:pPr>
            <a:r>
              <a:rPr lang="en-US" b="1" dirty="0" smtClean="0"/>
              <a:t>Select the Right ERP Solution</a:t>
            </a:r>
            <a:r>
              <a:rPr lang="en-US" dirty="0" smtClean="0"/>
              <a:t>: Cloud-based vs. </a:t>
            </a:r>
            <a:r>
              <a:rPr lang="en-US" dirty="0" err="1" smtClean="0"/>
              <a:t>on-premise</a:t>
            </a:r>
            <a:r>
              <a:rPr lang="en-US" dirty="0" smtClean="0"/>
              <a:t>.</a:t>
            </a:r>
          </a:p>
          <a:p>
            <a:pPr marL="0" indent="0">
              <a:buNone/>
            </a:pPr>
            <a:r>
              <a:rPr lang="en-US" b="1" dirty="0" smtClean="0"/>
              <a:t>Allocate Resources &amp; Budget</a:t>
            </a:r>
            <a:r>
              <a:rPr lang="en-US" dirty="0" smtClean="0"/>
              <a:t>: Ensure financial and workforce alignment.</a:t>
            </a:r>
          </a:p>
          <a:p>
            <a:pPr marL="0" indent="0">
              <a:buNone/>
            </a:pPr>
            <a:r>
              <a:rPr lang="en-US" b="1" dirty="0" smtClean="0"/>
              <a:t>Engage Key Stakeholders</a:t>
            </a:r>
            <a:r>
              <a:rPr lang="en-US" dirty="0" smtClean="0"/>
              <a:t>: Involve employees early for smoother adoption.</a:t>
            </a:r>
          </a:p>
          <a:p>
            <a:pPr marL="0" indent="0">
              <a:buNone/>
            </a:pPr>
            <a:r>
              <a:rPr lang="en-US" b="1" dirty="0" smtClean="0"/>
              <a:t>Define Success Metrics</a:t>
            </a:r>
            <a:r>
              <a:rPr lang="en-US" dirty="0" smtClean="0"/>
              <a:t>: Use KPIs like system adoption rate, process efficiency, and return on investment (ROI).</a:t>
            </a:r>
          </a:p>
          <a:p>
            <a:pPr marL="0" indent="0">
              <a:buNone/>
            </a:pPr>
            <a:endParaRPr lang="en-US" dirty="0"/>
          </a:p>
        </p:txBody>
      </p:sp>
    </p:spTree>
    <p:extLst>
      <p:ext uri="{BB962C8B-B14F-4D97-AF65-F5344CB8AC3E}">
        <p14:creationId xmlns:p14="http://schemas.microsoft.com/office/powerpoint/2010/main" val="817950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a:t>
            </a:r>
            <a:endParaRPr lang="en-US" dirty="0"/>
          </a:p>
        </p:txBody>
      </p:sp>
      <p:sp>
        <p:nvSpPr>
          <p:cNvPr id="3" name="Content Placeholder 2"/>
          <p:cNvSpPr>
            <a:spLocks noGrp="1"/>
          </p:cNvSpPr>
          <p:nvPr>
            <p:ph idx="1"/>
          </p:nvPr>
        </p:nvSpPr>
        <p:spPr/>
        <p:txBody>
          <a:bodyPr/>
          <a:lstStyle/>
          <a:p>
            <a:pPr marL="0" indent="0">
              <a:buNone/>
            </a:pPr>
            <a:r>
              <a:rPr lang="en-US" dirty="0" smtClean="0"/>
              <a:t>An organization choosing Oracle ERP should assess whether they need a cloud-based system for scalability or an </a:t>
            </a:r>
            <a:r>
              <a:rPr lang="en-US" dirty="0" err="1" smtClean="0"/>
              <a:t>on-premise</a:t>
            </a:r>
            <a:r>
              <a:rPr lang="en-US" dirty="0" smtClean="0"/>
              <a:t> solution for enhanced security. For example, a retail business may go for cloud-based ERP to enable seamless integration across multiple store locations and facilitate real-time inventory tracking.</a:t>
            </a:r>
            <a:endParaRPr lang="en-US" dirty="0"/>
          </a:p>
        </p:txBody>
      </p:sp>
    </p:spTree>
    <p:extLst>
      <p:ext uri="{BB962C8B-B14F-4D97-AF65-F5344CB8AC3E}">
        <p14:creationId xmlns:p14="http://schemas.microsoft.com/office/powerpoint/2010/main" val="3953200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8871"/>
            <a:ext cx="10515600" cy="1325563"/>
          </a:xfrm>
        </p:spPr>
        <p:txBody>
          <a:bodyPr/>
          <a:lstStyle/>
          <a:p>
            <a:r>
              <a:rPr lang="en-US" b="1" dirty="0" smtClean="0"/>
              <a:t>ERP Implementation Methodology</a:t>
            </a:r>
            <a:endParaRPr lang="en-US" dirty="0"/>
          </a:p>
        </p:txBody>
      </p:sp>
      <p:sp>
        <p:nvSpPr>
          <p:cNvPr id="3" name="Content Placeholder 2"/>
          <p:cNvSpPr>
            <a:spLocks noGrp="1"/>
          </p:cNvSpPr>
          <p:nvPr>
            <p:ph idx="1"/>
          </p:nvPr>
        </p:nvSpPr>
        <p:spPr>
          <a:xfrm>
            <a:off x="685800" y="1524433"/>
            <a:ext cx="10668000" cy="4890221"/>
          </a:xfrm>
        </p:spPr>
        <p:txBody>
          <a:bodyPr>
            <a:normAutofit/>
          </a:bodyPr>
          <a:lstStyle/>
          <a:p>
            <a:pPr marL="0" indent="0">
              <a:buNone/>
            </a:pPr>
            <a:r>
              <a:rPr lang="en-US" dirty="0" smtClean="0"/>
              <a:t>There are different methodologies used in ERP implementation, each suited to specific business needs.</a:t>
            </a:r>
          </a:p>
          <a:p>
            <a:pPr marL="0" indent="0">
              <a:buNone/>
            </a:pPr>
            <a:r>
              <a:rPr lang="en-US" b="1" dirty="0" smtClean="0"/>
              <a:t>Common Implementation Approaches:</a:t>
            </a:r>
          </a:p>
          <a:p>
            <a:pPr marL="514350" indent="-514350">
              <a:buFont typeface="+mj-lt"/>
              <a:buAutoNum type="arabicPeriod"/>
            </a:pPr>
            <a:r>
              <a:rPr lang="en-US" b="1" dirty="0" smtClean="0"/>
              <a:t>Big Bang Approach</a:t>
            </a:r>
            <a:endParaRPr lang="en-US" dirty="0" smtClean="0"/>
          </a:p>
          <a:p>
            <a:pPr marL="457200" lvl="1" indent="0">
              <a:buNone/>
            </a:pPr>
            <a:r>
              <a:rPr lang="en-US" dirty="0" smtClean="0"/>
              <a:t>Entire ERP system is deployed at once.</a:t>
            </a:r>
          </a:p>
          <a:p>
            <a:pPr marL="457200" lvl="1" indent="0">
              <a:buNone/>
            </a:pPr>
            <a:r>
              <a:rPr lang="en-US" b="1" dirty="0" smtClean="0"/>
              <a:t>Pros</a:t>
            </a:r>
            <a:r>
              <a:rPr lang="en-US" dirty="0" smtClean="0"/>
              <a:t>: Fast implementation, immediate integration.</a:t>
            </a:r>
          </a:p>
          <a:p>
            <a:pPr marL="457200" lvl="1" indent="0">
              <a:buNone/>
            </a:pPr>
            <a:r>
              <a:rPr lang="en-US" b="1" dirty="0" smtClean="0"/>
              <a:t>Cons</a:t>
            </a:r>
            <a:r>
              <a:rPr lang="en-US" dirty="0" smtClean="0"/>
              <a:t>: High risk, potential system-wide failure.</a:t>
            </a:r>
          </a:p>
          <a:p>
            <a:pPr marL="457200" lvl="1" indent="0">
              <a:buNone/>
            </a:pPr>
            <a:endParaRPr lang="en-US" b="1" dirty="0"/>
          </a:p>
          <a:p>
            <a:pPr marL="457200" lvl="1" indent="0">
              <a:buNone/>
            </a:pPr>
            <a:r>
              <a:rPr lang="en-US" b="1" dirty="0" smtClean="0"/>
              <a:t>Example</a:t>
            </a:r>
            <a:r>
              <a:rPr lang="en-US" dirty="0" smtClean="0"/>
              <a:t>: A retail chain implements SAP ERP in all its branches simultaneously. If system issues arise post-implementation, it may disrupt all store operations at once.</a:t>
            </a:r>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938809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81783"/>
          </a:xfrm>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a:xfrm>
            <a:off x="838200" y="1648691"/>
            <a:ext cx="10342418" cy="4294909"/>
          </a:xfrm>
        </p:spPr>
        <p:txBody>
          <a:bodyPr/>
          <a:lstStyle/>
          <a:p>
            <a:pPr marL="514350" indent="-514350">
              <a:buFont typeface="+mj-lt"/>
              <a:buAutoNum type="arabicPeriod" startAt="2"/>
            </a:pPr>
            <a:r>
              <a:rPr lang="en-US" b="1" dirty="0" smtClean="0"/>
              <a:t>Phased Rollout Approach</a:t>
            </a:r>
          </a:p>
          <a:p>
            <a:pPr marL="0" indent="0">
              <a:buNone/>
            </a:pPr>
            <a:r>
              <a:rPr lang="en-US" sz="2400" dirty="0" smtClean="0"/>
              <a:t>Implementation occurs in stages, module by module.</a:t>
            </a:r>
          </a:p>
          <a:p>
            <a:pPr marL="0" indent="0">
              <a:buNone/>
            </a:pPr>
            <a:r>
              <a:rPr lang="en-US" sz="2400" b="1" dirty="0" smtClean="0"/>
              <a:t>Pros</a:t>
            </a:r>
            <a:r>
              <a:rPr lang="en-US" sz="2400" dirty="0" smtClean="0"/>
              <a:t>: Lower risk, easier troubleshooting.</a:t>
            </a:r>
          </a:p>
          <a:p>
            <a:pPr marL="0" indent="0">
              <a:buNone/>
            </a:pPr>
            <a:r>
              <a:rPr lang="en-US" sz="2400" b="1" dirty="0" smtClean="0"/>
              <a:t>Cons</a:t>
            </a:r>
            <a:r>
              <a:rPr lang="en-US" sz="2400" dirty="0" smtClean="0"/>
              <a:t>: Longer implementation period.</a:t>
            </a:r>
          </a:p>
          <a:p>
            <a:pPr marL="0" indent="0">
              <a:buNone/>
            </a:pPr>
            <a:endParaRPr lang="en-US" sz="2400" dirty="0"/>
          </a:p>
          <a:p>
            <a:pPr marL="0" indent="0">
              <a:buNone/>
            </a:pPr>
            <a:r>
              <a:rPr lang="en-US" sz="2400" b="1" dirty="0" smtClean="0"/>
              <a:t>Example: </a:t>
            </a:r>
            <a:r>
              <a:rPr lang="en-US" sz="2400" dirty="0" smtClean="0"/>
              <a:t>A hospital first implements ERP for patient records before integrating billing and pharmacy. This approach ensures that doctors and nurses are familiar with the system before financial transactions are added.</a:t>
            </a:r>
            <a:endParaRPr lang="en-US" sz="2400" dirty="0"/>
          </a:p>
        </p:txBody>
      </p:sp>
    </p:spTree>
    <p:extLst>
      <p:ext uri="{BB962C8B-B14F-4D97-AF65-F5344CB8AC3E}">
        <p14:creationId xmlns:p14="http://schemas.microsoft.com/office/powerpoint/2010/main" val="575752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pPr marL="514350" indent="-514350">
              <a:buFont typeface="+mj-lt"/>
              <a:buAutoNum type="arabicPeriod" startAt="3"/>
            </a:pPr>
            <a:r>
              <a:rPr lang="en-US" b="1" dirty="0" smtClean="0"/>
              <a:t>Parallel Adoption Approach</a:t>
            </a:r>
          </a:p>
          <a:p>
            <a:pPr marL="0" indent="0">
              <a:buNone/>
            </a:pPr>
            <a:r>
              <a:rPr lang="en-US" dirty="0" smtClean="0"/>
              <a:t>ERP runs alongside the old system for a transition period.</a:t>
            </a:r>
          </a:p>
          <a:p>
            <a:pPr marL="0" indent="0">
              <a:buNone/>
            </a:pPr>
            <a:r>
              <a:rPr lang="en-US" b="1" dirty="0" smtClean="0"/>
              <a:t>Pros: </a:t>
            </a:r>
            <a:r>
              <a:rPr lang="en-US" dirty="0" smtClean="0"/>
              <a:t>Lower risk, ensures system stability.</a:t>
            </a:r>
          </a:p>
          <a:p>
            <a:pPr marL="0" indent="0">
              <a:buNone/>
            </a:pPr>
            <a:r>
              <a:rPr lang="en-US" b="1" dirty="0" smtClean="0"/>
              <a:t>Cons: </a:t>
            </a:r>
            <a:r>
              <a:rPr lang="en-US" dirty="0" smtClean="0"/>
              <a:t>Costly and resource-intensive.</a:t>
            </a:r>
          </a:p>
          <a:p>
            <a:pPr marL="0" indent="0">
              <a:buNone/>
            </a:pPr>
            <a:endParaRPr lang="en-US" dirty="0"/>
          </a:p>
          <a:p>
            <a:pPr marL="0" indent="0">
              <a:buNone/>
            </a:pPr>
            <a:r>
              <a:rPr lang="en-US" b="1" dirty="0" smtClean="0"/>
              <a:t>Example:</a:t>
            </a:r>
          </a:p>
          <a:p>
            <a:pPr marL="0" indent="0">
              <a:buNone/>
            </a:pPr>
            <a:r>
              <a:rPr lang="en-US" dirty="0" smtClean="0"/>
              <a:t>A bank keeps legacy banking software running alongside ERP before full migration. This ensures that customer transactions continue without disruption while employees adapt to the new system.</a:t>
            </a:r>
            <a:endParaRPr lang="en-US" dirty="0"/>
          </a:p>
        </p:txBody>
      </p:sp>
    </p:spTree>
    <p:extLst>
      <p:ext uri="{BB962C8B-B14F-4D97-AF65-F5344CB8AC3E}">
        <p14:creationId xmlns:p14="http://schemas.microsoft.com/office/powerpoint/2010/main" val="7917569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535</Words>
  <Application>Microsoft Office PowerPoint</Application>
  <PresentationFormat>Widescreen</PresentationFormat>
  <Paragraphs>50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Enterprise System</vt:lpstr>
      <vt:lpstr>ERP Development Life Cycle</vt:lpstr>
      <vt:lpstr>ERP Implementation Life Cycle</vt:lpstr>
      <vt:lpstr>Example:</vt:lpstr>
      <vt:lpstr>ERP Implementation Plan</vt:lpstr>
      <vt:lpstr>Example:</vt:lpstr>
      <vt:lpstr>ERP Implementation Methodology</vt:lpstr>
      <vt:lpstr>Cont…</vt:lpstr>
      <vt:lpstr>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System</dc:title>
  <dc:creator>user</dc:creator>
  <cp:lastModifiedBy>user</cp:lastModifiedBy>
  <cp:revision>11</cp:revision>
  <dcterms:created xsi:type="dcterms:W3CDTF">2025-02-24T04:08:45Z</dcterms:created>
  <dcterms:modified xsi:type="dcterms:W3CDTF">2025-02-24T04:42:21Z</dcterms:modified>
</cp:coreProperties>
</file>